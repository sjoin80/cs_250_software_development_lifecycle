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 id="2147483706" r:id="rId2"/>
    <p:sldMasterId id="2147483712" r:id="rId3"/>
    <p:sldMasterId id="2147483724" r:id="rId4"/>
    <p:sldMasterId id="2147483771" r:id="rId5"/>
  </p:sldMasterIdLst>
  <p:notesMasterIdLst>
    <p:notesMasterId r:id="rId13"/>
  </p:notesMasterIdLst>
  <p:handoutMasterIdLst>
    <p:handoutMasterId r:id="rId14"/>
  </p:handoutMasterIdLst>
  <p:sldIdLst>
    <p:sldId id="446" r:id="rId6"/>
    <p:sldId id="447" r:id="rId7"/>
    <p:sldId id="448" r:id="rId8"/>
    <p:sldId id="449" r:id="rId9"/>
    <p:sldId id="450" r:id="rId10"/>
    <p:sldId id="451" r:id="rId11"/>
    <p:sldId id="45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72" userDrawn="1">
          <p15:clr>
            <a:srgbClr val="A4A3A4"/>
          </p15:clr>
        </p15:guide>
        <p15:guide id="2" pos="288" userDrawn="1">
          <p15:clr>
            <a:srgbClr val="F26B43"/>
          </p15:clr>
        </p15:guide>
        <p15:guide id="3" orient="horz" pos="4056" userDrawn="1">
          <p15:clr>
            <a:srgbClr val="F26B43"/>
          </p15:clr>
        </p15:guide>
        <p15:guide id="4" orient="horz" pos="1488" userDrawn="1">
          <p15:clr>
            <a:srgbClr val="A4A3A4"/>
          </p15:clr>
        </p15:guide>
        <p15:guide id="5" pos="3816" userDrawn="1">
          <p15:clr>
            <a:srgbClr val="A4A3A4"/>
          </p15:clr>
        </p15:guide>
        <p15:guide id="6" pos="7416" userDrawn="1">
          <p15:clr>
            <a:srgbClr val="F26B43"/>
          </p15:clr>
        </p15:guide>
        <p15:guide id="7" orient="horz" pos="312" userDrawn="1">
          <p15:clr>
            <a:srgbClr val="F26B43"/>
          </p15:clr>
        </p15:guide>
        <p15:guide id="8" orient="horz" pos="2160" userDrawn="1">
          <p15:clr>
            <a:srgbClr val="A4A3A4"/>
          </p15:clr>
        </p15:guide>
        <p15:guide id="9" orient="horz" pos="230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5896"/>
    <a:srgbClr val="7C6560"/>
    <a:srgbClr val="29282D"/>
    <a:srgbClr val="E288B6"/>
    <a:srgbClr val="D75078"/>
    <a:srgbClr val="B38F6A"/>
    <a:srgbClr val="6667AB"/>
    <a:srgbClr val="BBBBBB"/>
    <a:srgbClr val="B9B9B9"/>
    <a:srgbClr val="85A0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83358"/>
  </p:normalViewPr>
  <p:slideViewPr>
    <p:cSldViewPr snapToGrid="0">
      <p:cViewPr varScale="1">
        <p:scale>
          <a:sx n="132" d="100"/>
          <a:sy n="132" d="100"/>
        </p:scale>
        <p:origin x="1056" y="132"/>
      </p:cViewPr>
      <p:guideLst>
        <p:guide orient="horz" pos="3672"/>
        <p:guide pos="288"/>
        <p:guide orient="horz" pos="4056"/>
        <p:guide orient="horz" pos="1488"/>
        <p:guide pos="3816"/>
        <p:guide pos="7416"/>
        <p:guide orient="horz" pos="312"/>
        <p:guide orient="horz" pos="2160"/>
        <p:guide orient="horz" pos="230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264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5.xml"/><Relationship Id="rId19" Type="http://schemas.microsoft.com/office/2018/10/relationships/authors" Target="author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E2A272-EE73-4024-BDEA-8118193753B6}" type="doc">
      <dgm:prSet loTypeId="urn:microsoft.com/office/officeart/2005/8/layout/hProcess10" loCatId="process" qsTypeId="urn:microsoft.com/office/officeart/2005/8/quickstyle/simple3" qsCatId="simple" csTypeId="urn:microsoft.com/office/officeart/2005/8/colors/accent3_2" csCatId="accent3" phldr="1"/>
      <dgm:spPr/>
      <dgm:t>
        <a:bodyPr/>
        <a:lstStyle/>
        <a:p>
          <a:endParaRPr lang="en-US"/>
        </a:p>
      </dgm:t>
    </dgm:pt>
    <dgm:pt modelId="{25F98D57-C306-408D-ADC8-35923CC251FA}">
      <dgm:prSet/>
      <dgm:spPr/>
      <dgm:t>
        <a:bodyPr/>
        <a:lstStyle/>
        <a:p>
          <a:r>
            <a:rPr lang="en-US" b="1" dirty="0"/>
            <a:t>Scrum Master</a:t>
          </a:r>
          <a:r>
            <a:rPr lang="en-US" dirty="0"/>
            <a:t>: Serves as a facilitator and Agile coach, ensuring the team adheres to Scrum principles and practices. The Scrum Master supports the team by organizing Scrum ceremonies, coaching on best practices, and ensuring effective collaboration.</a:t>
          </a:r>
        </a:p>
        <a:p>
          <a:pPr>
            <a:buFont typeface="Arial" panose="020B0604020202020204" pitchFamily="34" charset="0"/>
            <a:buChar char="•"/>
          </a:pPr>
          <a:r>
            <a:rPr lang="en-US" i="1" dirty="0"/>
            <a:t>Example:</a:t>
          </a:r>
          <a:r>
            <a:rPr lang="en-US" dirty="0"/>
            <a:t> Led a sprint retrospective that helped the team identify and address recurring API latency issues.</a:t>
          </a:r>
        </a:p>
      </dgm:t>
    </dgm:pt>
    <dgm:pt modelId="{B3D4A15A-899C-4577-ABF6-605B0524485B}" type="parTrans" cxnId="{7A830CF4-4F8A-4AA4-9952-C0F65834BAF7}">
      <dgm:prSet/>
      <dgm:spPr/>
      <dgm:t>
        <a:bodyPr/>
        <a:lstStyle/>
        <a:p>
          <a:endParaRPr lang="en-US"/>
        </a:p>
      </dgm:t>
    </dgm:pt>
    <dgm:pt modelId="{9426FE27-6FD0-4F41-A715-072DA58BEDB1}" type="sibTrans" cxnId="{7A830CF4-4F8A-4AA4-9952-C0F65834BAF7}">
      <dgm:prSet/>
      <dgm:spPr/>
      <dgm:t>
        <a:bodyPr/>
        <a:lstStyle/>
        <a:p>
          <a:endParaRPr lang="en-US"/>
        </a:p>
      </dgm:t>
    </dgm:pt>
    <dgm:pt modelId="{352318BD-6AC0-4D9A-86F0-57E275835166}">
      <dgm:prSet/>
      <dgm:spPr/>
      <dgm:t>
        <a:bodyPr/>
        <a:lstStyle/>
        <a:p>
          <a:r>
            <a:rPr lang="en-US" b="1"/>
            <a:t>Product Owner (PO)</a:t>
          </a:r>
          <a:r>
            <a:rPr lang="en-US"/>
            <a:t>: Acts as the liaison between stakeholders and the team, prioritizing the product backlog and ensuring alignment with business goals.</a:t>
          </a:r>
        </a:p>
        <a:p>
          <a:pPr>
            <a:buFont typeface="Arial" panose="020B0604020202020204" pitchFamily="34" charset="0"/>
            <a:buChar char="•"/>
          </a:pPr>
          <a:r>
            <a:rPr lang="en-US" i="1"/>
            <a:t>Example:</a:t>
          </a:r>
          <a:r>
            <a:rPr lang="en-US"/>
            <a:t> Adjusted sprint priorities after a client demo revealed a need for new reporting features.</a:t>
          </a:r>
        </a:p>
      </dgm:t>
    </dgm:pt>
    <dgm:pt modelId="{68E4B26F-33DE-4287-BF91-7E1C2C0CEC87}" type="parTrans" cxnId="{414214FD-9E26-47B9-917C-6D388F71B4EE}">
      <dgm:prSet/>
      <dgm:spPr/>
      <dgm:t>
        <a:bodyPr/>
        <a:lstStyle/>
        <a:p>
          <a:endParaRPr lang="en-US"/>
        </a:p>
      </dgm:t>
    </dgm:pt>
    <dgm:pt modelId="{19386032-048E-48BA-91FA-4CC00449A2DE}" type="sibTrans" cxnId="{414214FD-9E26-47B9-917C-6D388F71B4EE}">
      <dgm:prSet/>
      <dgm:spPr/>
      <dgm:t>
        <a:bodyPr/>
        <a:lstStyle/>
        <a:p>
          <a:endParaRPr lang="en-US"/>
        </a:p>
      </dgm:t>
    </dgm:pt>
    <dgm:pt modelId="{DE594542-995A-4660-9889-047E03158E1C}">
      <dgm:prSet/>
      <dgm:spPr/>
      <dgm:t>
        <a:bodyPr/>
        <a:lstStyle/>
        <a:p>
          <a:r>
            <a:rPr lang="en-US" b="1"/>
            <a:t>Developers</a:t>
          </a:r>
          <a:r>
            <a:rPr lang="en-US"/>
            <a:t>: A cross-functional, self-organizing group responsible for building and delivering product increments. They collaborate closely to implement features and resolve technical challenges.</a:t>
          </a:r>
        </a:p>
        <a:p>
          <a:pPr>
            <a:buFont typeface="Arial" panose="020B0604020202020204" pitchFamily="34" charset="0"/>
            <a:buChar char="•"/>
          </a:pPr>
          <a:r>
            <a:rPr lang="en-US" i="1"/>
            <a:t>Example:</a:t>
          </a:r>
          <a:r>
            <a:rPr lang="en-US"/>
            <a:t> Teamed up to build secure OAuth2.0 authentication and resolve schema mismatches in real time.</a:t>
          </a:r>
        </a:p>
      </dgm:t>
    </dgm:pt>
    <dgm:pt modelId="{DE09F654-21F4-4453-A372-5E3E40D0B7B8}" type="parTrans" cxnId="{BFD8E4AC-A16E-40EF-AFC3-3807B4721667}">
      <dgm:prSet/>
      <dgm:spPr/>
      <dgm:t>
        <a:bodyPr/>
        <a:lstStyle/>
        <a:p>
          <a:endParaRPr lang="en-US"/>
        </a:p>
      </dgm:t>
    </dgm:pt>
    <dgm:pt modelId="{4A936B3D-3103-4BF0-9B70-522909C3FA7C}" type="sibTrans" cxnId="{BFD8E4AC-A16E-40EF-AFC3-3807B4721667}">
      <dgm:prSet/>
      <dgm:spPr/>
      <dgm:t>
        <a:bodyPr/>
        <a:lstStyle/>
        <a:p>
          <a:endParaRPr lang="en-US"/>
        </a:p>
      </dgm:t>
    </dgm:pt>
    <dgm:pt modelId="{10BE6A4A-2BBF-4457-B722-3DD2CF552E53}" type="pres">
      <dgm:prSet presAssocID="{56E2A272-EE73-4024-BDEA-8118193753B6}" presName="Name0" presStyleCnt="0">
        <dgm:presLayoutVars>
          <dgm:dir/>
          <dgm:resizeHandles val="exact"/>
        </dgm:presLayoutVars>
      </dgm:prSet>
      <dgm:spPr/>
    </dgm:pt>
    <dgm:pt modelId="{9CF2EF27-A058-48D4-8736-C6F995BF9723}" type="pres">
      <dgm:prSet presAssocID="{25F98D57-C306-408D-ADC8-35923CC251FA}" presName="composite" presStyleCnt="0"/>
      <dgm:spPr/>
    </dgm:pt>
    <dgm:pt modelId="{B95B7267-21E7-42C7-AFAF-DC82EAF66E7E}" type="pres">
      <dgm:prSet presAssocID="{25F98D57-C306-408D-ADC8-35923CC251FA}" presName="imagSh" presStyleLbl="b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ero Male with solid fill"/>
        </a:ext>
      </dgm:extLst>
    </dgm:pt>
    <dgm:pt modelId="{08048507-2BBB-4AEE-89D2-71C6B8ECDA7C}" type="pres">
      <dgm:prSet presAssocID="{25F98D57-C306-408D-ADC8-35923CC251FA}" presName="txNode" presStyleLbl="node1" presStyleIdx="0" presStyleCnt="3">
        <dgm:presLayoutVars>
          <dgm:bulletEnabled val="1"/>
        </dgm:presLayoutVars>
      </dgm:prSet>
      <dgm:spPr/>
    </dgm:pt>
    <dgm:pt modelId="{CDDE5225-61F8-4AC8-AEC1-49A75C11B13D}" type="pres">
      <dgm:prSet presAssocID="{9426FE27-6FD0-4F41-A715-072DA58BEDB1}" presName="sibTrans" presStyleLbl="sibTrans2D1" presStyleIdx="0" presStyleCnt="2" custAng="0"/>
      <dgm:spPr/>
    </dgm:pt>
    <dgm:pt modelId="{1E570EF5-5394-4883-839E-BF349A78D6FB}" type="pres">
      <dgm:prSet presAssocID="{9426FE27-6FD0-4F41-A715-072DA58BEDB1}" presName="connTx" presStyleLbl="sibTrans2D1" presStyleIdx="0" presStyleCnt="2"/>
      <dgm:spPr/>
    </dgm:pt>
    <dgm:pt modelId="{68F424A0-5B6B-4B90-B8F6-CF6A5504BBD0}" type="pres">
      <dgm:prSet presAssocID="{352318BD-6AC0-4D9A-86F0-57E275835166}" presName="composite" presStyleCnt="0"/>
      <dgm:spPr/>
    </dgm:pt>
    <dgm:pt modelId="{FCCF76CC-2591-40A9-854F-43477162CA3F}" type="pres">
      <dgm:prSet presAssocID="{352318BD-6AC0-4D9A-86F0-57E275835166}" presName="imagSh" presStyleLbl="b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Users with solid fill"/>
        </a:ext>
      </dgm:extLst>
    </dgm:pt>
    <dgm:pt modelId="{912E4730-801B-43CF-918D-D355EE967B3A}" type="pres">
      <dgm:prSet presAssocID="{352318BD-6AC0-4D9A-86F0-57E275835166}" presName="txNode" presStyleLbl="node1" presStyleIdx="1" presStyleCnt="3">
        <dgm:presLayoutVars>
          <dgm:bulletEnabled val="1"/>
        </dgm:presLayoutVars>
      </dgm:prSet>
      <dgm:spPr/>
    </dgm:pt>
    <dgm:pt modelId="{208AA579-9885-4451-AAC2-489117DCA522}" type="pres">
      <dgm:prSet presAssocID="{19386032-048E-48BA-91FA-4CC00449A2DE}" presName="sibTrans" presStyleLbl="sibTrans2D1" presStyleIdx="1" presStyleCnt="2"/>
      <dgm:spPr/>
    </dgm:pt>
    <dgm:pt modelId="{CD097D61-505A-4495-A08F-2F95B29CC4DD}" type="pres">
      <dgm:prSet presAssocID="{19386032-048E-48BA-91FA-4CC00449A2DE}" presName="connTx" presStyleLbl="sibTrans2D1" presStyleIdx="1" presStyleCnt="2"/>
      <dgm:spPr/>
    </dgm:pt>
    <dgm:pt modelId="{0717709B-1EE1-48A9-B4C4-7B58D9231E91}" type="pres">
      <dgm:prSet presAssocID="{DE594542-995A-4660-9889-047E03158E1C}" presName="composite" presStyleCnt="0"/>
      <dgm:spPr/>
    </dgm:pt>
    <dgm:pt modelId="{3571AE41-AC8A-41E4-AC58-1DD6F5A29500}" type="pres">
      <dgm:prSet presAssocID="{DE594542-995A-4660-9889-047E03158E1C}" presName="imagSh" presStyleLbl="bgImgPlac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ocial Network"/>
        </a:ext>
      </dgm:extLst>
    </dgm:pt>
    <dgm:pt modelId="{5A8733EC-F476-48DE-BB8B-38ABEF057DD8}" type="pres">
      <dgm:prSet presAssocID="{DE594542-995A-4660-9889-047E03158E1C}" presName="txNode" presStyleLbl="node1" presStyleIdx="2" presStyleCnt="3">
        <dgm:presLayoutVars>
          <dgm:bulletEnabled val="1"/>
        </dgm:presLayoutVars>
      </dgm:prSet>
      <dgm:spPr/>
    </dgm:pt>
  </dgm:ptLst>
  <dgm:cxnLst>
    <dgm:cxn modelId="{1AB10E05-298C-4C81-A9D9-778A6F2B1B94}" type="presOf" srcId="{9426FE27-6FD0-4F41-A715-072DA58BEDB1}" destId="{1E570EF5-5394-4883-839E-BF349A78D6FB}" srcOrd="1" destOrd="0" presId="urn:microsoft.com/office/officeart/2005/8/layout/hProcess10"/>
    <dgm:cxn modelId="{C98D140B-43EC-4D9E-80F4-780582614DDB}" type="presOf" srcId="{56E2A272-EE73-4024-BDEA-8118193753B6}" destId="{10BE6A4A-2BBF-4457-B722-3DD2CF552E53}" srcOrd="0" destOrd="0" presId="urn:microsoft.com/office/officeart/2005/8/layout/hProcess10"/>
    <dgm:cxn modelId="{EC8F8E1F-D2D3-4296-AF4D-DCFE19074960}" type="presOf" srcId="{352318BD-6AC0-4D9A-86F0-57E275835166}" destId="{912E4730-801B-43CF-918D-D355EE967B3A}" srcOrd="0" destOrd="0" presId="urn:microsoft.com/office/officeart/2005/8/layout/hProcess10"/>
    <dgm:cxn modelId="{8FA42C3A-0771-426F-BAFA-6142B0334733}" type="presOf" srcId="{25F98D57-C306-408D-ADC8-35923CC251FA}" destId="{08048507-2BBB-4AEE-89D2-71C6B8ECDA7C}" srcOrd="0" destOrd="0" presId="urn:microsoft.com/office/officeart/2005/8/layout/hProcess10"/>
    <dgm:cxn modelId="{42465874-902E-450E-86ED-7ADA64333CB7}" type="presOf" srcId="{DE594542-995A-4660-9889-047E03158E1C}" destId="{5A8733EC-F476-48DE-BB8B-38ABEF057DD8}" srcOrd="0" destOrd="0" presId="urn:microsoft.com/office/officeart/2005/8/layout/hProcess10"/>
    <dgm:cxn modelId="{BFD8E4AC-A16E-40EF-AFC3-3807B4721667}" srcId="{56E2A272-EE73-4024-BDEA-8118193753B6}" destId="{DE594542-995A-4660-9889-047E03158E1C}" srcOrd="2" destOrd="0" parTransId="{DE09F654-21F4-4453-A372-5E3E40D0B7B8}" sibTransId="{4A936B3D-3103-4BF0-9B70-522909C3FA7C}"/>
    <dgm:cxn modelId="{9D66E4CE-2BAD-4423-A8DC-DB21040818D3}" type="presOf" srcId="{19386032-048E-48BA-91FA-4CC00449A2DE}" destId="{208AA579-9885-4451-AAC2-489117DCA522}" srcOrd="0" destOrd="0" presId="urn:microsoft.com/office/officeart/2005/8/layout/hProcess10"/>
    <dgm:cxn modelId="{2149C3D7-E747-435D-8AC2-B1EDD1C6708D}" type="presOf" srcId="{19386032-048E-48BA-91FA-4CC00449A2DE}" destId="{CD097D61-505A-4495-A08F-2F95B29CC4DD}" srcOrd="1" destOrd="0" presId="urn:microsoft.com/office/officeart/2005/8/layout/hProcess10"/>
    <dgm:cxn modelId="{7A830CF4-4F8A-4AA4-9952-C0F65834BAF7}" srcId="{56E2A272-EE73-4024-BDEA-8118193753B6}" destId="{25F98D57-C306-408D-ADC8-35923CC251FA}" srcOrd="0" destOrd="0" parTransId="{B3D4A15A-899C-4577-ABF6-605B0524485B}" sibTransId="{9426FE27-6FD0-4F41-A715-072DA58BEDB1}"/>
    <dgm:cxn modelId="{414214FD-9E26-47B9-917C-6D388F71B4EE}" srcId="{56E2A272-EE73-4024-BDEA-8118193753B6}" destId="{352318BD-6AC0-4D9A-86F0-57E275835166}" srcOrd="1" destOrd="0" parTransId="{68E4B26F-33DE-4287-BF91-7E1C2C0CEC87}" sibTransId="{19386032-048E-48BA-91FA-4CC00449A2DE}"/>
    <dgm:cxn modelId="{080B24FF-B29E-4CC3-822D-26FC715E1FC2}" type="presOf" srcId="{9426FE27-6FD0-4F41-A715-072DA58BEDB1}" destId="{CDDE5225-61F8-4AC8-AEC1-49A75C11B13D}" srcOrd="0" destOrd="0" presId="urn:microsoft.com/office/officeart/2005/8/layout/hProcess10"/>
    <dgm:cxn modelId="{B3BAF7FB-ADDF-4C0F-A4E6-D59B4A30ED4F}" type="presParOf" srcId="{10BE6A4A-2BBF-4457-B722-3DD2CF552E53}" destId="{9CF2EF27-A058-48D4-8736-C6F995BF9723}" srcOrd="0" destOrd="0" presId="urn:microsoft.com/office/officeart/2005/8/layout/hProcess10"/>
    <dgm:cxn modelId="{07F55486-458B-4DFE-9AA3-6731429C9166}" type="presParOf" srcId="{9CF2EF27-A058-48D4-8736-C6F995BF9723}" destId="{B95B7267-21E7-42C7-AFAF-DC82EAF66E7E}" srcOrd="0" destOrd="0" presId="urn:microsoft.com/office/officeart/2005/8/layout/hProcess10"/>
    <dgm:cxn modelId="{6DE86415-7E10-408E-B2CE-AE9C64012234}" type="presParOf" srcId="{9CF2EF27-A058-48D4-8736-C6F995BF9723}" destId="{08048507-2BBB-4AEE-89D2-71C6B8ECDA7C}" srcOrd="1" destOrd="0" presId="urn:microsoft.com/office/officeart/2005/8/layout/hProcess10"/>
    <dgm:cxn modelId="{D66D8792-470C-4AFB-BE98-977EEC1F26C2}" type="presParOf" srcId="{10BE6A4A-2BBF-4457-B722-3DD2CF552E53}" destId="{CDDE5225-61F8-4AC8-AEC1-49A75C11B13D}" srcOrd="1" destOrd="0" presId="urn:microsoft.com/office/officeart/2005/8/layout/hProcess10"/>
    <dgm:cxn modelId="{4BF82F46-2BF7-4DE2-8EBC-D324FEC96EDC}" type="presParOf" srcId="{CDDE5225-61F8-4AC8-AEC1-49A75C11B13D}" destId="{1E570EF5-5394-4883-839E-BF349A78D6FB}" srcOrd="0" destOrd="0" presId="urn:microsoft.com/office/officeart/2005/8/layout/hProcess10"/>
    <dgm:cxn modelId="{5C115AF1-BA36-4F1C-AEF4-4C35B97A9C56}" type="presParOf" srcId="{10BE6A4A-2BBF-4457-B722-3DD2CF552E53}" destId="{68F424A0-5B6B-4B90-B8F6-CF6A5504BBD0}" srcOrd="2" destOrd="0" presId="urn:microsoft.com/office/officeart/2005/8/layout/hProcess10"/>
    <dgm:cxn modelId="{A1B09DA4-1C0A-4BF4-A110-7FF6FD5FA377}" type="presParOf" srcId="{68F424A0-5B6B-4B90-B8F6-CF6A5504BBD0}" destId="{FCCF76CC-2591-40A9-854F-43477162CA3F}" srcOrd="0" destOrd="0" presId="urn:microsoft.com/office/officeart/2005/8/layout/hProcess10"/>
    <dgm:cxn modelId="{B0542D45-DA52-4157-BA6F-8CCFE9776532}" type="presParOf" srcId="{68F424A0-5B6B-4B90-B8F6-CF6A5504BBD0}" destId="{912E4730-801B-43CF-918D-D355EE967B3A}" srcOrd="1" destOrd="0" presId="urn:microsoft.com/office/officeart/2005/8/layout/hProcess10"/>
    <dgm:cxn modelId="{E045FAF3-57EC-4EDD-BBC1-7EB35B4F3CD0}" type="presParOf" srcId="{10BE6A4A-2BBF-4457-B722-3DD2CF552E53}" destId="{208AA579-9885-4451-AAC2-489117DCA522}" srcOrd="3" destOrd="0" presId="urn:microsoft.com/office/officeart/2005/8/layout/hProcess10"/>
    <dgm:cxn modelId="{BC6E3BD6-E032-4207-90E6-155F7B382038}" type="presParOf" srcId="{208AA579-9885-4451-AAC2-489117DCA522}" destId="{CD097D61-505A-4495-A08F-2F95B29CC4DD}" srcOrd="0" destOrd="0" presId="urn:microsoft.com/office/officeart/2005/8/layout/hProcess10"/>
    <dgm:cxn modelId="{817A19A6-8167-496C-9558-0FD3AC121C0A}" type="presParOf" srcId="{10BE6A4A-2BBF-4457-B722-3DD2CF552E53}" destId="{0717709B-1EE1-48A9-B4C4-7B58D9231E91}" srcOrd="4" destOrd="0" presId="urn:microsoft.com/office/officeart/2005/8/layout/hProcess10"/>
    <dgm:cxn modelId="{439B18C9-0AA2-4E00-8502-68DEE1B128A4}" type="presParOf" srcId="{0717709B-1EE1-48A9-B4C4-7B58D9231E91}" destId="{3571AE41-AC8A-41E4-AC58-1DD6F5A29500}" srcOrd="0" destOrd="0" presId="urn:microsoft.com/office/officeart/2005/8/layout/hProcess10"/>
    <dgm:cxn modelId="{9E79695A-9A86-46CB-9D69-5FF91894DB22}" type="presParOf" srcId="{0717709B-1EE1-48A9-B4C4-7B58D9231E91}" destId="{5A8733EC-F476-48DE-BB8B-38ABEF057DD8}" srcOrd="1" destOrd="0" presId="urn:microsoft.com/office/officeart/2005/8/layout/hProcess10"/>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864E9A-9D5B-4B26-842A-5FBF210E8A3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CA8C99C-E950-4082-A10C-CB5A69910B30}">
      <dgm:prSet/>
      <dgm:spPr/>
      <dgm:t>
        <a:bodyPr/>
        <a:lstStyle/>
        <a:p>
          <a:r>
            <a:rPr lang="en-US" b="1"/>
            <a:t>Sprint Planning</a:t>
          </a:r>
          <a:r>
            <a:rPr lang="en-US"/>
            <a:t>: Teams plan the sprint by defining the work to be completed, often using user stories and effort estimation.</a:t>
          </a:r>
        </a:p>
      </dgm:t>
    </dgm:pt>
    <dgm:pt modelId="{2CDDB8E4-DBC3-4E6A-AB07-4CDF4E564332}" type="parTrans" cxnId="{B6DBE4B2-BF98-42EE-959B-7BAF096DEFCF}">
      <dgm:prSet/>
      <dgm:spPr/>
      <dgm:t>
        <a:bodyPr/>
        <a:lstStyle/>
        <a:p>
          <a:endParaRPr lang="en-US"/>
        </a:p>
      </dgm:t>
    </dgm:pt>
    <dgm:pt modelId="{8616EB34-4041-4CE9-8559-1C9EAC1E74A9}" type="sibTrans" cxnId="{B6DBE4B2-BF98-42EE-959B-7BAF096DEFCF}">
      <dgm:prSet/>
      <dgm:spPr/>
      <dgm:t>
        <a:bodyPr/>
        <a:lstStyle/>
        <a:p>
          <a:endParaRPr lang="en-US"/>
        </a:p>
      </dgm:t>
    </dgm:pt>
    <dgm:pt modelId="{AE31B13E-54F6-482C-9AE4-19846AFF1097}">
      <dgm:prSet/>
      <dgm:spPr/>
      <dgm:t>
        <a:bodyPr/>
        <a:lstStyle/>
        <a:p>
          <a:r>
            <a:rPr lang="en-US" b="1"/>
            <a:t>Development (Sprint Execution)</a:t>
          </a:r>
          <a:r>
            <a:rPr lang="en-US"/>
            <a:t>: Daily standups encourage accountability, quick decision-making, and ongoing progress tracking.</a:t>
          </a:r>
        </a:p>
      </dgm:t>
    </dgm:pt>
    <dgm:pt modelId="{A3CD5270-4FF0-4B19-82CF-2E3655BA0B31}" type="parTrans" cxnId="{AB3450AD-F474-40AF-B46C-E1D151693426}">
      <dgm:prSet/>
      <dgm:spPr/>
      <dgm:t>
        <a:bodyPr/>
        <a:lstStyle/>
        <a:p>
          <a:endParaRPr lang="en-US"/>
        </a:p>
      </dgm:t>
    </dgm:pt>
    <dgm:pt modelId="{5EF63BE5-0FC8-46D7-9D6E-F8510D40A6F4}" type="sibTrans" cxnId="{AB3450AD-F474-40AF-B46C-E1D151693426}">
      <dgm:prSet/>
      <dgm:spPr/>
      <dgm:t>
        <a:bodyPr/>
        <a:lstStyle/>
        <a:p>
          <a:endParaRPr lang="en-US"/>
        </a:p>
      </dgm:t>
    </dgm:pt>
    <dgm:pt modelId="{076C9681-5968-4AD1-A891-4B682FC43241}">
      <dgm:prSet/>
      <dgm:spPr/>
      <dgm:t>
        <a:bodyPr/>
        <a:lstStyle/>
        <a:p>
          <a:r>
            <a:rPr lang="en-US" b="1"/>
            <a:t>Sprint Review</a:t>
          </a:r>
          <a:r>
            <a:rPr lang="en-US"/>
            <a:t>: The team showcases completed work to stakeholders and gathers feedback to refine future sprints.</a:t>
          </a:r>
        </a:p>
      </dgm:t>
    </dgm:pt>
    <dgm:pt modelId="{CC5B23B8-B292-4189-B910-44DBFBCB272A}" type="parTrans" cxnId="{0F9200FB-0D3C-4CAB-9CD5-C01BEA5CF4B9}">
      <dgm:prSet/>
      <dgm:spPr/>
      <dgm:t>
        <a:bodyPr/>
        <a:lstStyle/>
        <a:p>
          <a:endParaRPr lang="en-US"/>
        </a:p>
      </dgm:t>
    </dgm:pt>
    <dgm:pt modelId="{FD020C72-F454-4F08-A333-6C92E396422D}" type="sibTrans" cxnId="{0F9200FB-0D3C-4CAB-9CD5-C01BEA5CF4B9}">
      <dgm:prSet/>
      <dgm:spPr/>
      <dgm:t>
        <a:bodyPr/>
        <a:lstStyle/>
        <a:p>
          <a:endParaRPr lang="en-US"/>
        </a:p>
      </dgm:t>
    </dgm:pt>
    <dgm:pt modelId="{048B621A-84F1-4092-8BB7-86950B6A70AD}">
      <dgm:prSet/>
      <dgm:spPr/>
      <dgm:t>
        <a:bodyPr/>
        <a:lstStyle/>
        <a:p>
          <a:r>
            <a:rPr lang="en-US" b="1"/>
            <a:t>Sprint Retrospective</a:t>
          </a:r>
          <a:r>
            <a:rPr lang="en-US"/>
            <a:t>: A dedicated session to analyze the sprint process, celebrate wins, and identify improvements.</a:t>
          </a:r>
        </a:p>
      </dgm:t>
    </dgm:pt>
    <dgm:pt modelId="{4ECF5915-627E-43E6-AA87-BDADCF247516}" type="parTrans" cxnId="{EC74772E-B944-4FEE-A1D0-CE62A5ED12CE}">
      <dgm:prSet/>
      <dgm:spPr/>
      <dgm:t>
        <a:bodyPr/>
        <a:lstStyle/>
        <a:p>
          <a:endParaRPr lang="en-US"/>
        </a:p>
      </dgm:t>
    </dgm:pt>
    <dgm:pt modelId="{9FE28E9C-5223-4BFA-8883-74D4C2EA1A37}" type="sibTrans" cxnId="{EC74772E-B944-4FEE-A1D0-CE62A5ED12CE}">
      <dgm:prSet/>
      <dgm:spPr/>
      <dgm:t>
        <a:bodyPr/>
        <a:lstStyle/>
        <a:p>
          <a:endParaRPr lang="en-US"/>
        </a:p>
      </dgm:t>
    </dgm:pt>
    <dgm:pt modelId="{B5FE354B-5610-4D64-AA99-DB4DBACA3966}">
      <dgm:prSet/>
      <dgm:spPr/>
      <dgm:t>
        <a:bodyPr/>
        <a:lstStyle/>
        <a:p>
          <a:r>
            <a:rPr lang="en-US" i="1"/>
            <a:t>Example: The story for multi-factor authentication was collaboratively broken into subtasks, enabling smoother execution and test coverage.</a:t>
          </a:r>
          <a:endParaRPr lang="en-US"/>
        </a:p>
      </dgm:t>
    </dgm:pt>
    <dgm:pt modelId="{20462C7F-A196-40A1-96FF-14F80B2A2695}" type="parTrans" cxnId="{A619D6F1-AD61-4E1B-941C-5AED1C8D2609}">
      <dgm:prSet/>
      <dgm:spPr/>
      <dgm:t>
        <a:bodyPr/>
        <a:lstStyle/>
        <a:p>
          <a:endParaRPr lang="en-US"/>
        </a:p>
      </dgm:t>
    </dgm:pt>
    <dgm:pt modelId="{6506DBA9-0F09-40F2-BE7A-2597BD2C293B}" type="sibTrans" cxnId="{A619D6F1-AD61-4E1B-941C-5AED1C8D2609}">
      <dgm:prSet/>
      <dgm:spPr/>
      <dgm:t>
        <a:bodyPr/>
        <a:lstStyle/>
        <a:p>
          <a:endParaRPr lang="en-US"/>
        </a:p>
      </dgm:t>
    </dgm:pt>
    <dgm:pt modelId="{AA979F7A-8436-4D8D-816D-9CFAB5296BE4}">
      <dgm:prSet/>
      <dgm:spPr/>
      <dgm:t>
        <a:bodyPr/>
        <a:lstStyle/>
        <a:p>
          <a:endParaRPr lang="en-US"/>
        </a:p>
      </dgm:t>
    </dgm:pt>
    <dgm:pt modelId="{DC5070C7-EFC2-468B-8DE3-02A6DDF60031}" type="parTrans" cxnId="{F9D1AA71-F32C-44D0-A113-2D8833F25040}">
      <dgm:prSet/>
      <dgm:spPr/>
      <dgm:t>
        <a:bodyPr/>
        <a:lstStyle/>
        <a:p>
          <a:endParaRPr lang="en-US"/>
        </a:p>
      </dgm:t>
    </dgm:pt>
    <dgm:pt modelId="{3BF15C4C-4429-4DAA-9444-7C2AD5287449}" type="sibTrans" cxnId="{F9D1AA71-F32C-44D0-A113-2D8833F25040}">
      <dgm:prSet/>
      <dgm:spPr/>
      <dgm:t>
        <a:bodyPr/>
        <a:lstStyle/>
        <a:p>
          <a:endParaRPr lang="en-US"/>
        </a:p>
      </dgm:t>
    </dgm:pt>
    <dgm:pt modelId="{A2439463-4CA7-4D02-8254-E1D40C1A96FD}" type="pres">
      <dgm:prSet presAssocID="{54864E9A-9D5B-4B26-842A-5FBF210E8A36}" presName="root" presStyleCnt="0">
        <dgm:presLayoutVars>
          <dgm:dir/>
          <dgm:resizeHandles val="exact"/>
        </dgm:presLayoutVars>
      </dgm:prSet>
      <dgm:spPr/>
    </dgm:pt>
    <dgm:pt modelId="{7C4AC884-A208-4D49-80C8-4D2200991B95}" type="pres">
      <dgm:prSet presAssocID="{7CA8C99C-E950-4082-A10C-CB5A69910B30}" presName="compNode" presStyleCnt="0"/>
      <dgm:spPr/>
    </dgm:pt>
    <dgm:pt modelId="{A0ACF9BE-1AF0-4A76-9EC1-42976CDE0D7A}" type="pres">
      <dgm:prSet presAssocID="{7CA8C99C-E950-4082-A10C-CB5A69910B3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awl"/>
        </a:ext>
      </dgm:extLst>
    </dgm:pt>
    <dgm:pt modelId="{7A011ECF-87DC-45A4-98A5-9126327E7250}" type="pres">
      <dgm:prSet presAssocID="{7CA8C99C-E950-4082-A10C-CB5A69910B30}" presName="spaceRect" presStyleCnt="0"/>
      <dgm:spPr/>
    </dgm:pt>
    <dgm:pt modelId="{47256D89-7D6B-44E9-8472-A715B882DA76}" type="pres">
      <dgm:prSet presAssocID="{7CA8C99C-E950-4082-A10C-CB5A69910B30}" presName="textRect" presStyleLbl="revTx" presStyleIdx="0" presStyleCnt="6">
        <dgm:presLayoutVars>
          <dgm:chMax val="1"/>
          <dgm:chPref val="1"/>
        </dgm:presLayoutVars>
      </dgm:prSet>
      <dgm:spPr/>
    </dgm:pt>
    <dgm:pt modelId="{E366FA51-99AE-4BD4-8B3C-6E767622AFB2}" type="pres">
      <dgm:prSet presAssocID="{8616EB34-4041-4CE9-8559-1C9EAC1E74A9}" presName="sibTrans" presStyleCnt="0"/>
      <dgm:spPr/>
    </dgm:pt>
    <dgm:pt modelId="{DE44BDC7-5679-4183-B984-10362B55967B}" type="pres">
      <dgm:prSet presAssocID="{AE31B13E-54F6-482C-9AE4-19846AFF1097}" presName="compNode" presStyleCnt="0"/>
      <dgm:spPr/>
    </dgm:pt>
    <dgm:pt modelId="{C150B759-4361-46C6-A012-8AAF40203CE4}" type="pres">
      <dgm:prSet presAssocID="{AE31B13E-54F6-482C-9AE4-19846AFF109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orkflow"/>
        </a:ext>
      </dgm:extLst>
    </dgm:pt>
    <dgm:pt modelId="{B4659B0E-034C-4B71-B46C-C1CD2833AFEF}" type="pres">
      <dgm:prSet presAssocID="{AE31B13E-54F6-482C-9AE4-19846AFF1097}" presName="spaceRect" presStyleCnt="0"/>
      <dgm:spPr/>
    </dgm:pt>
    <dgm:pt modelId="{AC728D18-894C-44CC-A862-A6DE8651EF66}" type="pres">
      <dgm:prSet presAssocID="{AE31B13E-54F6-482C-9AE4-19846AFF1097}" presName="textRect" presStyleLbl="revTx" presStyleIdx="1" presStyleCnt="6">
        <dgm:presLayoutVars>
          <dgm:chMax val="1"/>
          <dgm:chPref val="1"/>
        </dgm:presLayoutVars>
      </dgm:prSet>
      <dgm:spPr/>
    </dgm:pt>
    <dgm:pt modelId="{92E8325E-8FD2-452F-8312-D4F1E8589E94}" type="pres">
      <dgm:prSet presAssocID="{5EF63BE5-0FC8-46D7-9D6E-F8510D40A6F4}" presName="sibTrans" presStyleCnt="0"/>
      <dgm:spPr/>
    </dgm:pt>
    <dgm:pt modelId="{C0E5BC0B-E78F-42FD-993E-06480E67D997}" type="pres">
      <dgm:prSet presAssocID="{076C9681-5968-4AD1-A891-4B682FC43241}" presName="compNode" presStyleCnt="0"/>
      <dgm:spPr/>
    </dgm:pt>
    <dgm:pt modelId="{04AF98EF-EAEE-4709-998C-70F1E735DC7B}" type="pres">
      <dgm:prSet presAssocID="{076C9681-5968-4AD1-A891-4B682FC43241}"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nching Diagram"/>
        </a:ext>
      </dgm:extLst>
    </dgm:pt>
    <dgm:pt modelId="{E3224B38-BC53-4D6D-BA43-23284E2EF764}" type="pres">
      <dgm:prSet presAssocID="{076C9681-5968-4AD1-A891-4B682FC43241}" presName="spaceRect" presStyleCnt="0"/>
      <dgm:spPr/>
    </dgm:pt>
    <dgm:pt modelId="{8AB4CCF9-D1E4-4C97-959F-86D897E9F43D}" type="pres">
      <dgm:prSet presAssocID="{076C9681-5968-4AD1-A891-4B682FC43241}" presName="textRect" presStyleLbl="revTx" presStyleIdx="2" presStyleCnt="6">
        <dgm:presLayoutVars>
          <dgm:chMax val="1"/>
          <dgm:chPref val="1"/>
        </dgm:presLayoutVars>
      </dgm:prSet>
      <dgm:spPr/>
    </dgm:pt>
    <dgm:pt modelId="{B63836BE-9D3A-46F0-99DF-294F9CE74608}" type="pres">
      <dgm:prSet presAssocID="{FD020C72-F454-4F08-A333-6C92E396422D}" presName="sibTrans" presStyleCnt="0"/>
      <dgm:spPr/>
    </dgm:pt>
    <dgm:pt modelId="{9386F555-745D-412D-B67F-429C4491CC8B}" type="pres">
      <dgm:prSet presAssocID="{048B621A-84F1-4092-8BB7-86950B6A70AD}" presName="compNode" presStyleCnt="0"/>
      <dgm:spPr/>
    </dgm:pt>
    <dgm:pt modelId="{08735107-5863-4AC2-9B49-BBDB4326829B}" type="pres">
      <dgm:prSet presAssocID="{048B621A-84F1-4092-8BB7-86950B6A70A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n"/>
        </a:ext>
      </dgm:extLst>
    </dgm:pt>
    <dgm:pt modelId="{D48E3C22-09DF-4890-B7BF-27F9347EDC5F}" type="pres">
      <dgm:prSet presAssocID="{048B621A-84F1-4092-8BB7-86950B6A70AD}" presName="spaceRect" presStyleCnt="0"/>
      <dgm:spPr/>
    </dgm:pt>
    <dgm:pt modelId="{3C1129A0-A4E8-4D6E-9857-D1A3EAB778BD}" type="pres">
      <dgm:prSet presAssocID="{048B621A-84F1-4092-8BB7-86950B6A70AD}" presName="textRect" presStyleLbl="revTx" presStyleIdx="3" presStyleCnt="6">
        <dgm:presLayoutVars>
          <dgm:chMax val="1"/>
          <dgm:chPref val="1"/>
        </dgm:presLayoutVars>
      </dgm:prSet>
      <dgm:spPr/>
    </dgm:pt>
    <dgm:pt modelId="{5A22A387-B87B-4422-83D9-3C086906948A}" type="pres">
      <dgm:prSet presAssocID="{9FE28E9C-5223-4BFA-8883-74D4C2EA1A37}" presName="sibTrans" presStyleCnt="0"/>
      <dgm:spPr/>
    </dgm:pt>
    <dgm:pt modelId="{2AB54907-97F7-43B0-B962-4B044912C92F}" type="pres">
      <dgm:prSet presAssocID="{B5FE354B-5610-4D64-AA99-DB4DBACA3966}" presName="compNode" presStyleCnt="0"/>
      <dgm:spPr/>
    </dgm:pt>
    <dgm:pt modelId="{DBE94136-31BF-4D26-9CE4-9F8874F9C8E4}" type="pres">
      <dgm:prSet presAssocID="{B5FE354B-5610-4D64-AA99-DB4DBACA396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cessor"/>
        </a:ext>
      </dgm:extLst>
    </dgm:pt>
    <dgm:pt modelId="{4EAB0C16-9DF4-44F5-BD91-487AF5AF6D07}" type="pres">
      <dgm:prSet presAssocID="{B5FE354B-5610-4D64-AA99-DB4DBACA3966}" presName="spaceRect" presStyleCnt="0"/>
      <dgm:spPr/>
    </dgm:pt>
    <dgm:pt modelId="{7AFF2E67-06FF-41E4-93A7-8D1A0E8DF98A}" type="pres">
      <dgm:prSet presAssocID="{B5FE354B-5610-4D64-AA99-DB4DBACA3966}" presName="textRect" presStyleLbl="revTx" presStyleIdx="4" presStyleCnt="6">
        <dgm:presLayoutVars>
          <dgm:chMax val="1"/>
          <dgm:chPref val="1"/>
        </dgm:presLayoutVars>
      </dgm:prSet>
      <dgm:spPr/>
    </dgm:pt>
    <dgm:pt modelId="{D6F9B415-3509-43F1-B003-F26CCCFE2A1F}" type="pres">
      <dgm:prSet presAssocID="{6506DBA9-0F09-40F2-BE7A-2597BD2C293B}" presName="sibTrans" presStyleCnt="0"/>
      <dgm:spPr/>
    </dgm:pt>
    <dgm:pt modelId="{40D27960-60D6-4E56-91BA-98F45134ECBA}" type="pres">
      <dgm:prSet presAssocID="{AA979F7A-8436-4D8D-816D-9CFAB5296BE4}" presName="compNode" presStyleCnt="0"/>
      <dgm:spPr/>
    </dgm:pt>
    <dgm:pt modelId="{49DDA637-7B75-458B-9176-A5573A19D782}" type="pres">
      <dgm:prSet presAssocID="{AA979F7A-8436-4D8D-816D-9CFAB5296BE4}" presName="iconRect" presStyleLbl="node1" presStyleIdx="5" presStyleCnt="6" custScaleX="177503" custScaleY="193040" custLinFactNeighborX="4450" custLinFactNeighborY="3652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a:noFill/>
        </a:ln>
      </dgm:spPr>
      <dgm:extLst>
        <a:ext uri="{E40237B7-FDA0-4F09-8148-C483321AD2D9}">
          <dgm14:cNvPr xmlns:dgm14="http://schemas.microsoft.com/office/drawing/2010/diagram" id="0" name="" descr="Continuous Improvement outline"/>
        </a:ext>
      </dgm:extLst>
    </dgm:pt>
    <dgm:pt modelId="{5A53C813-58AD-46D2-9EBE-B48A532EF530}" type="pres">
      <dgm:prSet presAssocID="{AA979F7A-8436-4D8D-816D-9CFAB5296BE4}" presName="spaceRect" presStyleCnt="0"/>
      <dgm:spPr/>
    </dgm:pt>
    <dgm:pt modelId="{C17FB59D-6B89-422E-B9DF-D3CCD6D2F777}" type="pres">
      <dgm:prSet presAssocID="{AA979F7A-8436-4D8D-816D-9CFAB5296BE4}" presName="textRect" presStyleLbl="revTx" presStyleIdx="5" presStyleCnt="6">
        <dgm:presLayoutVars>
          <dgm:chMax val="1"/>
          <dgm:chPref val="1"/>
        </dgm:presLayoutVars>
      </dgm:prSet>
      <dgm:spPr/>
    </dgm:pt>
  </dgm:ptLst>
  <dgm:cxnLst>
    <dgm:cxn modelId="{EC74772E-B944-4FEE-A1D0-CE62A5ED12CE}" srcId="{54864E9A-9D5B-4B26-842A-5FBF210E8A36}" destId="{048B621A-84F1-4092-8BB7-86950B6A70AD}" srcOrd="3" destOrd="0" parTransId="{4ECF5915-627E-43E6-AA87-BDADCF247516}" sibTransId="{9FE28E9C-5223-4BFA-8883-74D4C2EA1A37}"/>
    <dgm:cxn modelId="{36E71070-9510-4950-AF7B-97411883C73C}" type="presOf" srcId="{048B621A-84F1-4092-8BB7-86950B6A70AD}" destId="{3C1129A0-A4E8-4D6E-9857-D1A3EAB778BD}" srcOrd="0" destOrd="0" presId="urn:microsoft.com/office/officeart/2018/2/layout/IconLabelList"/>
    <dgm:cxn modelId="{F9D1AA71-F32C-44D0-A113-2D8833F25040}" srcId="{54864E9A-9D5B-4B26-842A-5FBF210E8A36}" destId="{AA979F7A-8436-4D8D-816D-9CFAB5296BE4}" srcOrd="5" destOrd="0" parTransId="{DC5070C7-EFC2-468B-8DE3-02A6DDF60031}" sibTransId="{3BF15C4C-4429-4DAA-9444-7C2AD5287449}"/>
    <dgm:cxn modelId="{0B59AE74-ECE3-4CDF-B140-B1E204C583DE}" type="presOf" srcId="{AA979F7A-8436-4D8D-816D-9CFAB5296BE4}" destId="{C17FB59D-6B89-422E-B9DF-D3CCD6D2F777}" srcOrd="0" destOrd="0" presId="urn:microsoft.com/office/officeart/2018/2/layout/IconLabelList"/>
    <dgm:cxn modelId="{B2EAAA57-FEC7-415D-9061-1BA508F4C63B}" type="presOf" srcId="{AE31B13E-54F6-482C-9AE4-19846AFF1097}" destId="{AC728D18-894C-44CC-A862-A6DE8651EF66}" srcOrd="0" destOrd="0" presId="urn:microsoft.com/office/officeart/2018/2/layout/IconLabelList"/>
    <dgm:cxn modelId="{AB3450AD-F474-40AF-B46C-E1D151693426}" srcId="{54864E9A-9D5B-4B26-842A-5FBF210E8A36}" destId="{AE31B13E-54F6-482C-9AE4-19846AFF1097}" srcOrd="1" destOrd="0" parTransId="{A3CD5270-4FF0-4B19-82CF-2E3655BA0B31}" sibTransId="{5EF63BE5-0FC8-46D7-9D6E-F8510D40A6F4}"/>
    <dgm:cxn modelId="{B6DBE4B2-BF98-42EE-959B-7BAF096DEFCF}" srcId="{54864E9A-9D5B-4B26-842A-5FBF210E8A36}" destId="{7CA8C99C-E950-4082-A10C-CB5A69910B30}" srcOrd="0" destOrd="0" parTransId="{2CDDB8E4-DBC3-4E6A-AB07-4CDF4E564332}" sibTransId="{8616EB34-4041-4CE9-8559-1C9EAC1E74A9}"/>
    <dgm:cxn modelId="{4A5ADBD7-DE45-4A87-9F0A-F215B2C30920}" type="presOf" srcId="{B5FE354B-5610-4D64-AA99-DB4DBACA3966}" destId="{7AFF2E67-06FF-41E4-93A7-8D1A0E8DF98A}" srcOrd="0" destOrd="0" presId="urn:microsoft.com/office/officeart/2018/2/layout/IconLabelList"/>
    <dgm:cxn modelId="{2C51F3DA-589B-4537-9669-E2ED2EFE742A}" type="presOf" srcId="{076C9681-5968-4AD1-A891-4B682FC43241}" destId="{8AB4CCF9-D1E4-4C97-959F-86D897E9F43D}" srcOrd="0" destOrd="0" presId="urn:microsoft.com/office/officeart/2018/2/layout/IconLabelList"/>
    <dgm:cxn modelId="{AB2008E5-8EB9-4BA5-A15E-752A49AA5B3C}" type="presOf" srcId="{54864E9A-9D5B-4B26-842A-5FBF210E8A36}" destId="{A2439463-4CA7-4D02-8254-E1D40C1A96FD}" srcOrd="0" destOrd="0" presId="urn:microsoft.com/office/officeart/2018/2/layout/IconLabelList"/>
    <dgm:cxn modelId="{1EA328EE-A8FC-4CBB-A56A-293B4B70DF7D}" type="presOf" srcId="{7CA8C99C-E950-4082-A10C-CB5A69910B30}" destId="{47256D89-7D6B-44E9-8472-A715B882DA76}" srcOrd="0" destOrd="0" presId="urn:microsoft.com/office/officeart/2018/2/layout/IconLabelList"/>
    <dgm:cxn modelId="{A619D6F1-AD61-4E1B-941C-5AED1C8D2609}" srcId="{54864E9A-9D5B-4B26-842A-5FBF210E8A36}" destId="{B5FE354B-5610-4D64-AA99-DB4DBACA3966}" srcOrd="4" destOrd="0" parTransId="{20462C7F-A196-40A1-96FF-14F80B2A2695}" sibTransId="{6506DBA9-0F09-40F2-BE7A-2597BD2C293B}"/>
    <dgm:cxn modelId="{0F9200FB-0D3C-4CAB-9CD5-C01BEA5CF4B9}" srcId="{54864E9A-9D5B-4B26-842A-5FBF210E8A36}" destId="{076C9681-5968-4AD1-A891-4B682FC43241}" srcOrd="2" destOrd="0" parTransId="{CC5B23B8-B292-4189-B910-44DBFBCB272A}" sibTransId="{FD020C72-F454-4F08-A333-6C92E396422D}"/>
    <dgm:cxn modelId="{B68AF3B2-04B5-4BED-BACE-92CE5F70A137}" type="presParOf" srcId="{A2439463-4CA7-4D02-8254-E1D40C1A96FD}" destId="{7C4AC884-A208-4D49-80C8-4D2200991B95}" srcOrd="0" destOrd="0" presId="urn:microsoft.com/office/officeart/2018/2/layout/IconLabelList"/>
    <dgm:cxn modelId="{A1A10AAF-67FF-4DEC-944B-85407461AF40}" type="presParOf" srcId="{7C4AC884-A208-4D49-80C8-4D2200991B95}" destId="{A0ACF9BE-1AF0-4A76-9EC1-42976CDE0D7A}" srcOrd="0" destOrd="0" presId="urn:microsoft.com/office/officeart/2018/2/layout/IconLabelList"/>
    <dgm:cxn modelId="{2AE403A9-16B1-436A-B706-18C22E08C580}" type="presParOf" srcId="{7C4AC884-A208-4D49-80C8-4D2200991B95}" destId="{7A011ECF-87DC-45A4-98A5-9126327E7250}" srcOrd="1" destOrd="0" presId="urn:microsoft.com/office/officeart/2018/2/layout/IconLabelList"/>
    <dgm:cxn modelId="{458F81D0-40A0-4061-919B-03C09E3CA028}" type="presParOf" srcId="{7C4AC884-A208-4D49-80C8-4D2200991B95}" destId="{47256D89-7D6B-44E9-8472-A715B882DA76}" srcOrd="2" destOrd="0" presId="urn:microsoft.com/office/officeart/2018/2/layout/IconLabelList"/>
    <dgm:cxn modelId="{8B518BC8-DED4-4A58-8AD2-E12BE50CBD5C}" type="presParOf" srcId="{A2439463-4CA7-4D02-8254-E1D40C1A96FD}" destId="{E366FA51-99AE-4BD4-8B3C-6E767622AFB2}" srcOrd="1" destOrd="0" presId="urn:microsoft.com/office/officeart/2018/2/layout/IconLabelList"/>
    <dgm:cxn modelId="{81208DE6-58AC-4E3E-9B85-0ACE4C11DF5B}" type="presParOf" srcId="{A2439463-4CA7-4D02-8254-E1D40C1A96FD}" destId="{DE44BDC7-5679-4183-B984-10362B55967B}" srcOrd="2" destOrd="0" presId="urn:microsoft.com/office/officeart/2018/2/layout/IconLabelList"/>
    <dgm:cxn modelId="{7F3B1751-06EC-4209-B812-402561924C02}" type="presParOf" srcId="{DE44BDC7-5679-4183-B984-10362B55967B}" destId="{C150B759-4361-46C6-A012-8AAF40203CE4}" srcOrd="0" destOrd="0" presId="urn:microsoft.com/office/officeart/2018/2/layout/IconLabelList"/>
    <dgm:cxn modelId="{A4133361-AE55-4733-8995-5D573B2652EB}" type="presParOf" srcId="{DE44BDC7-5679-4183-B984-10362B55967B}" destId="{B4659B0E-034C-4B71-B46C-C1CD2833AFEF}" srcOrd="1" destOrd="0" presId="urn:microsoft.com/office/officeart/2018/2/layout/IconLabelList"/>
    <dgm:cxn modelId="{591D6FC6-9DAD-43AF-AE92-F24322C053EE}" type="presParOf" srcId="{DE44BDC7-5679-4183-B984-10362B55967B}" destId="{AC728D18-894C-44CC-A862-A6DE8651EF66}" srcOrd="2" destOrd="0" presId="urn:microsoft.com/office/officeart/2018/2/layout/IconLabelList"/>
    <dgm:cxn modelId="{ADC9DFD3-4664-48A5-A228-852FB5305026}" type="presParOf" srcId="{A2439463-4CA7-4D02-8254-E1D40C1A96FD}" destId="{92E8325E-8FD2-452F-8312-D4F1E8589E94}" srcOrd="3" destOrd="0" presId="urn:microsoft.com/office/officeart/2018/2/layout/IconLabelList"/>
    <dgm:cxn modelId="{35A95E2F-69A1-4EE2-8FF1-6B1FF5684CE8}" type="presParOf" srcId="{A2439463-4CA7-4D02-8254-E1D40C1A96FD}" destId="{C0E5BC0B-E78F-42FD-993E-06480E67D997}" srcOrd="4" destOrd="0" presId="urn:microsoft.com/office/officeart/2018/2/layout/IconLabelList"/>
    <dgm:cxn modelId="{07C8BC6B-B341-410F-9E46-D59A67302C89}" type="presParOf" srcId="{C0E5BC0B-E78F-42FD-993E-06480E67D997}" destId="{04AF98EF-EAEE-4709-998C-70F1E735DC7B}" srcOrd="0" destOrd="0" presId="urn:microsoft.com/office/officeart/2018/2/layout/IconLabelList"/>
    <dgm:cxn modelId="{D4EA42BD-4640-429D-9BD5-9CB842BAAD4C}" type="presParOf" srcId="{C0E5BC0B-E78F-42FD-993E-06480E67D997}" destId="{E3224B38-BC53-4D6D-BA43-23284E2EF764}" srcOrd="1" destOrd="0" presId="urn:microsoft.com/office/officeart/2018/2/layout/IconLabelList"/>
    <dgm:cxn modelId="{BD98DA74-FB98-48EB-B515-58BE1C88D3C0}" type="presParOf" srcId="{C0E5BC0B-E78F-42FD-993E-06480E67D997}" destId="{8AB4CCF9-D1E4-4C97-959F-86D897E9F43D}" srcOrd="2" destOrd="0" presId="urn:microsoft.com/office/officeart/2018/2/layout/IconLabelList"/>
    <dgm:cxn modelId="{C572B043-1EA6-4EE0-89E5-97EFB9AE1429}" type="presParOf" srcId="{A2439463-4CA7-4D02-8254-E1D40C1A96FD}" destId="{B63836BE-9D3A-46F0-99DF-294F9CE74608}" srcOrd="5" destOrd="0" presId="urn:microsoft.com/office/officeart/2018/2/layout/IconLabelList"/>
    <dgm:cxn modelId="{01E59949-0DA1-4CA9-90D5-3B59585D540C}" type="presParOf" srcId="{A2439463-4CA7-4D02-8254-E1D40C1A96FD}" destId="{9386F555-745D-412D-B67F-429C4491CC8B}" srcOrd="6" destOrd="0" presId="urn:microsoft.com/office/officeart/2018/2/layout/IconLabelList"/>
    <dgm:cxn modelId="{FA461822-9703-4A9D-97B3-17ECDAD4A9FD}" type="presParOf" srcId="{9386F555-745D-412D-B67F-429C4491CC8B}" destId="{08735107-5863-4AC2-9B49-BBDB4326829B}" srcOrd="0" destOrd="0" presId="urn:microsoft.com/office/officeart/2018/2/layout/IconLabelList"/>
    <dgm:cxn modelId="{33420AB4-90E3-48A4-9DA3-BAFBD4841DA7}" type="presParOf" srcId="{9386F555-745D-412D-B67F-429C4491CC8B}" destId="{D48E3C22-09DF-4890-B7BF-27F9347EDC5F}" srcOrd="1" destOrd="0" presId="urn:microsoft.com/office/officeart/2018/2/layout/IconLabelList"/>
    <dgm:cxn modelId="{C04EA38A-AFD7-4B12-B70A-C12E225DE655}" type="presParOf" srcId="{9386F555-745D-412D-B67F-429C4491CC8B}" destId="{3C1129A0-A4E8-4D6E-9857-D1A3EAB778BD}" srcOrd="2" destOrd="0" presId="urn:microsoft.com/office/officeart/2018/2/layout/IconLabelList"/>
    <dgm:cxn modelId="{33418B04-7043-4442-B975-A1264A0B418C}" type="presParOf" srcId="{A2439463-4CA7-4D02-8254-E1D40C1A96FD}" destId="{5A22A387-B87B-4422-83D9-3C086906948A}" srcOrd="7" destOrd="0" presId="urn:microsoft.com/office/officeart/2018/2/layout/IconLabelList"/>
    <dgm:cxn modelId="{6569E72E-5054-4F02-8A88-6A015F8DF475}" type="presParOf" srcId="{A2439463-4CA7-4D02-8254-E1D40C1A96FD}" destId="{2AB54907-97F7-43B0-B962-4B044912C92F}" srcOrd="8" destOrd="0" presId="urn:microsoft.com/office/officeart/2018/2/layout/IconLabelList"/>
    <dgm:cxn modelId="{BD99E0F8-2A73-4E72-B6BD-89DAE64A66D9}" type="presParOf" srcId="{2AB54907-97F7-43B0-B962-4B044912C92F}" destId="{DBE94136-31BF-4D26-9CE4-9F8874F9C8E4}" srcOrd="0" destOrd="0" presId="urn:microsoft.com/office/officeart/2018/2/layout/IconLabelList"/>
    <dgm:cxn modelId="{9AD01B7F-B985-4088-8454-75C8D22F9F86}" type="presParOf" srcId="{2AB54907-97F7-43B0-B962-4B044912C92F}" destId="{4EAB0C16-9DF4-44F5-BD91-487AF5AF6D07}" srcOrd="1" destOrd="0" presId="urn:microsoft.com/office/officeart/2018/2/layout/IconLabelList"/>
    <dgm:cxn modelId="{3C2FE70C-1202-4AAA-A7CD-8D47446E1ECB}" type="presParOf" srcId="{2AB54907-97F7-43B0-B962-4B044912C92F}" destId="{7AFF2E67-06FF-41E4-93A7-8D1A0E8DF98A}" srcOrd="2" destOrd="0" presId="urn:microsoft.com/office/officeart/2018/2/layout/IconLabelList"/>
    <dgm:cxn modelId="{8CBCCA33-4A09-4C44-9A44-13BC033ECD0B}" type="presParOf" srcId="{A2439463-4CA7-4D02-8254-E1D40C1A96FD}" destId="{D6F9B415-3509-43F1-B003-F26CCCFE2A1F}" srcOrd="9" destOrd="0" presId="urn:microsoft.com/office/officeart/2018/2/layout/IconLabelList"/>
    <dgm:cxn modelId="{469DB440-C4C8-4756-A3A3-073EF2AA30EA}" type="presParOf" srcId="{A2439463-4CA7-4D02-8254-E1D40C1A96FD}" destId="{40D27960-60D6-4E56-91BA-98F45134ECBA}" srcOrd="10" destOrd="0" presId="urn:microsoft.com/office/officeart/2018/2/layout/IconLabelList"/>
    <dgm:cxn modelId="{21C3E241-95A5-41D5-8483-A5041FDD19DF}" type="presParOf" srcId="{40D27960-60D6-4E56-91BA-98F45134ECBA}" destId="{49DDA637-7B75-458B-9176-A5573A19D782}" srcOrd="0" destOrd="0" presId="urn:microsoft.com/office/officeart/2018/2/layout/IconLabelList"/>
    <dgm:cxn modelId="{8329A306-E5FC-4E1C-88FE-AE49E578F094}" type="presParOf" srcId="{40D27960-60D6-4E56-91BA-98F45134ECBA}" destId="{5A53C813-58AD-46D2-9EBE-B48A532EF530}" srcOrd="1" destOrd="0" presId="urn:microsoft.com/office/officeart/2018/2/layout/IconLabelList"/>
    <dgm:cxn modelId="{64CB7991-3402-4C97-980B-CB4BF19AB3AF}" type="presParOf" srcId="{40D27960-60D6-4E56-91BA-98F45134ECBA}" destId="{C17FB59D-6B89-422E-B9DF-D3CCD6D2F77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5B7267-21E7-42C7-AFAF-DC82EAF66E7E}">
      <dsp:nvSpPr>
        <dsp:cNvPr id="0" name=""/>
        <dsp:cNvSpPr/>
      </dsp:nvSpPr>
      <dsp:spPr>
        <a:xfrm>
          <a:off x="5408" y="708258"/>
          <a:ext cx="2547817" cy="2547817"/>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9525" cap="rnd"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08048507-2BBB-4AEE-89D2-71C6B8ECDA7C}">
      <dsp:nvSpPr>
        <dsp:cNvPr id="0" name=""/>
        <dsp:cNvSpPr/>
      </dsp:nvSpPr>
      <dsp:spPr>
        <a:xfrm>
          <a:off x="420169" y="2236948"/>
          <a:ext cx="2547817" cy="2547817"/>
        </a:xfrm>
        <a:prstGeom prst="roundRect">
          <a:avLst>
            <a:gd name="adj" fmla="val 10000"/>
          </a:avLst>
        </a:prstGeom>
        <a:gradFill rotWithShape="0">
          <a:gsLst>
            <a:gs pos="0">
              <a:schemeClr val="accent3">
                <a:hueOff val="0"/>
                <a:satOff val="0"/>
                <a:lumOff val="0"/>
                <a:alphaOff val="0"/>
                <a:tint val="64000"/>
                <a:lumMod val="118000"/>
              </a:schemeClr>
            </a:gs>
            <a:gs pos="100000">
              <a:schemeClr val="accent3">
                <a:hueOff val="0"/>
                <a:satOff val="0"/>
                <a:lumOff val="0"/>
                <a:alphaOff val="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Scrum Master</a:t>
          </a:r>
          <a:r>
            <a:rPr lang="en-US" sz="1100" kern="1200" dirty="0"/>
            <a:t>: Serves as a facilitator and Agile coach, ensuring the team adheres to Scrum principles and practices. The Scrum Master supports the team by organizing Scrum ceremonies, coaching on best practices, and ensuring effective collaboration.</a:t>
          </a:r>
        </a:p>
        <a:p>
          <a:pPr marL="0" lvl="0" indent="0" algn="ctr" defTabSz="488950">
            <a:lnSpc>
              <a:spcPct val="90000"/>
            </a:lnSpc>
            <a:spcBef>
              <a:spcPct val="0"/>
            </a:spcBef>
            <a:spcAft>
              <a:spcPct val="35000"/>
            </a:spcAft>
            <a:buFont typeface="Arial" panose="020B0604020202020204" pitchFamily="34" charset="0"/>
            <a:buNone/>
          </a:pPr>
          <a:r>
            <a:rPr lang="en-US" sz="1100" i="1" kern="1200" dirty="0"/>
            <a:t>Example:</a:t>
          </a:r>
          <a:r>
            <a:rPr lang="en-US" sz="1100" kern="1200" dirty="0"/>
            <a:t> Led a sprint retrospective that helped the team identify and address recurring API latency issues.</a:t>
          </a:r>
        </a:p>
      </dsp:txBody>
      <dsp:txXfrm>
        <a:off x="494792" y="2311571"/>
        <a:ext cx="2398571" cy="2398571"/>
      </dsp:txXfrm>
    </dsp:sp>
    <dsp:sp modelId="{CDDE5225-61F8-4AC8-AEC1-49A75C11B13D}">
      <dsp:nvSpPr>
        <dsp:cNvPr id="0" name=""/>
        <dsp:cNvSpPr/>
      </dsp:nvSpPr>
      <dsp:spPr>
        <a:xfrm>
          <a:off x="3043991" y="1676064"/>
          <a:ext cx="490766" cy="612205"/>
        </a:xfrm>
        <a:prstGeom prst="rightArrow">
          <a:avLst>
            <a:gd name="adj1" fmla="val 60000"/>
            <a:gd name="adj2" fmla="val 50000"/>
          </a:avLst>
        </a:prstGeom>
        <a:gradFill rotWithShape="0">
          <a:gsLst>
            <a:gs pos="0">
              <a:schemeClr val="accent3">
                <a:tint val="60000"/>
                <a:hueOff val="0"/>
                <a:satOff val="0"/>
                <a:lumOff val="0"/>
                <a:alphaOff val="0"/>
                <a:tint val="64000"/>
                <a:lumMod val="118000"/>
              </a:schemeClr>
            </a:gs>
            <a:gs pos="100000">
              <a:schemeClr val="accent3">
                <a:tint val="60000"/>
                <a:hueOff val="0"/>
                <a:satOff val="0"/>
                <a:lumOff val="0"/>
                <a:alphaOff val="0"/>
                <a:tint val="92000"/>
                <a:alpha val="100000"/>
                <a:lumMod val="110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043991" y="1798505"/>
        <a:ext cx="343536" cy="367323"/>
      </dsp:txXfrm>
    </dsp:sp>
    <dsp:sp modelId="{FCCF76CC-2591-40A9-854F-43477162CA3F}">
      <dsp:nvSpPr>
        <dsp:cNvPr id="0" name=""/>
        <dsp:cNvSpPr/>
      </dsp:nvSpPr>
      <dsp:spPr>
        <a:xfrm>
          <a:off x="3955414" y="708258"/>
          <a:ext cx="2547817" cy="2547817"/>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9525" cap="rnd"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912E4730-801B-43CF-918D-D355EE967B3A}">
      <dsp:nvSpPr>
        <dsp:cNvPr id="0" name=""/>
        <dsp:cNvSpPr/>
      </dsp:nvSpPr>
      <dsp:spPr>
        <a:xfrm>
          <a:off x="4370175" y="2236948"/>
          <a:ext cx="2547817" cy="2547817"/>
        </a:xfrm>
        <a:prstGeom prst="roundRect">
          <a:avLst>
            <a:gd name="adj" fmla="val 10000"/>
          </a:avLst>
        </a:prstGeom>
        <a:gradFill rotWithShape="0">
          <a:gsLst>
            <a:gs pos="0">
              <a:schemeClr val="accent3">
                <a:hueOff val="0"/>
                <a:satOff val="0"/>
                <a:lumOff val="0"/>
                <a:alphaOff val="0"/>
                <a:tint val="64000"/>
                <a:lumMod val="118000"/>
              </a:schemeClr>
            </a:gs>
            <a:gs pos="100000">
              <a:schemeClr val="accent3">
                <a:hueOff val="0"/>
                <a:satOff val="0"/>
                <a:lumOff val="0"/>
                <a:alphaOff val="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Product Owner (PO)</a:t>
          </a:r>
          <a:r>
            <a:rPr lang="en-US" sz="1100" kern="1200"/>
            <a:t>: Acts as the liaison between stakeholders and the team, prioritizing the product backlog and ensuring alignment with business goals.</a:t>
          </a:r>
        </a:p>
        <a:p>
          <a:pPr marL="0" lvl="0" indent="0" algn="ctr" defTabSz="488950">
            <a:lnSpc>
              <a:spcPct val="90000"/>
            </a:lnSpc>
            <a:spcBef>
              <a:spcPct val="0"/>
            </a:spcBef>
            <a:spcAft>
              <a:spcPct val="35000"/>
            </a:spcAft>
            <a:buFont typeface="Arial" panose="020B0604020202020204" pitchFamily="34" charset="0"/>
            <a:buNone/>
          </a:pPr>
          <a:r>
            <a:rPr lang="en-US" sz="1100" i="1" kern="1200"/>
            <a:t>Example:</a:t>
          </a:r>
          <a:r>
            <a:rPr lang="en-US" sz="1100" kern="1200"/>
            <a:t> Adjusted sprint priorities after a client demo revealed a need for new reporting features.</a:t>
          </a:r>
        </a:p>
      </dsp:txBody>
      <dsp:txXfrm>
        <a:off x="4444798" y="2311571"/>
        <a:ext cx="2398571" cy="2398571"/>
      </dsp:txXfrm>
    </dsp:sp>
    <dsp:sp modelId="{208AA579-9885-4451-AAC2-489117DCA522}">
      <dsp:nvSpPr>
        <dsp:cNvPr id="0" name=""/>
        <dsp:cNvSpPr/>
      </dsp:nvSpPr>
      <dsp:spPr>
        <a:xfrm>
          <a:off x="6993998" y="1676064"/>
          <a:ext cx="490766" cy="612205"/>
        </a:xfrm>
        <a:prstGeom prst="rightArrow">
          <a:avLst>
            <a:gd name="adj1" fmla="val 60000"/>
            <a:gd name="adj2" fmla="val 50000"/>
          </a:avLst>
        </a:prstGeom>
        <a:gradFill rotWithShape="0">
          <a:gsLst>
            <a:gs pos="0">
              <a:schemeClr val="accent3">
                <a:tint val="60000"/>
                <a:hueOff val="0"/>
                <a:satOff val="0"/>
                <a:lumOff val="0"/>
                <a:alphaOff val="0"/>
                <a:tint val="64000"/>
                <a:lumMod val="118000"/>
              </a:schemeClr>
            </a:gs>
            <a:gs pos="100000">
              <a:schemeClr val="accent3">
                <a:tint val="60000"/>
                <a:hueOff val="0"/>
                <a:satOff val="0"/>
                <a:lumOff val="0"/>
                <a:alphaOff val="0"/>
                <a:tint val="92000"/>
                <a:alpha val="100000"/>
                <a:lumMod val="110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6993998" y="1798505"/>
        <a:ext cx="343536" cy="367323"/>
      </dsp:txXfrm>
    </dsp:sp>
    <dsp:sp modelId="{3571AE41-AC8A-41E4-AC58-1DD6F5A29500}">
      <dsp:nvSpPr>
        <dsp:cNvPr id="0" name=""/>
        <dsp:cNvSpPr/>
      </dsp:nvSpPr>
      <dsp:spPr>
        <a:xfrm>
          <a:off x="7905421" y="708258"/>
          <a:ext cx="2547817" cy="2547817"/>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9525" cap="rnd"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5A8733EC-F476-48DE-BB8B-38ABEF057DD8}">
      <dsp:nvSpPr>
        <dsp:cNvPr id="0" name=""/>
        <dsp:cNvSpPr/>
      </dsp:nvSpPr>
      <dsp:spPr>
        <a:xfrm>
          <a:off x="8320182" y="2236948"/>
          <a:ext cx="2547817" cy="2547817"/>
        </a:xfrm>
        <a:prstGeom prst="roundRect">
          <a:avLst>
            <a:gd name="adj" fmla="val 10000"/>
          </a:avLst>
        </a:prstGeom>
        <a:gradFill rotWithShape="0">
          <a:gsLst>
            <a:gs pos="0">
              <a:schemeClr val="accent3">
                <a:hueOff val="0"/>
                <a:satOff val="0"/>
                <a:lumOff val="0"/>
                <a:alphaOff val="0"/>
                <a:tint val="64000"/>
                <a:lumMod val="118000"/>
              </a:schemeClr>
            </a:gs>
            <a:gs pos="100000">
              <a:schemeClr val="accent3">
                <a:hueOff val="0"/>
                <a:satOff val="0"/>
                <a:lumOff val="0"/>
                <a:alphaOff val="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Developers</a:t>
          </a:r>
          <a:r>
            <a:rPr lang="en-US" sz="1100" kern="1200"/>
            <a:t>: A cross-functional, self-organizing group responsible for building and delivering product increments. They collaborate closely to implement features and resolve technical challenges.</a:t>
          </a:r>
        </a:p>
        <a:p>
          <a:pPr marL="0" lvl="0" indent="0" algn="ctr" defTabSz="488950">
            <a:lnSpc>
              <a:spcPct val="90000"/>
            </a:lnSpc>
            <a:spcBef>
              <a:spcPct val="0"/>
            </a:spcBef>
            <a:spcAft>
              <a:spcPct val="35000"/>
            </a:spcAft>
            <a:buFont typeface="Arial" panose="020B0604020202020204" pitchFamily="34" charset="0"/>
            <a:buNone/>
          </a:pPr>
          <a:r>
            <a:rPr lang="en-US" sz="1100" i="1" kern="1200"/>
            <a:t>Example:</a:t>
          </a:r>
          <a:r>
            <a:rPr lang="en-US" sz="1100" kern="1200"/>
            <a:t> Teamed up to build secure OAuth2.0 authentication and resolve schema mismatches in real time.</a:t>
          </a:r>
        </a:p>
      </dsp:txBody>
      <dsp:txXfrm>
        <a:off x="8394805" y="2311571"/>
        <a:ext cx="2398571" cy="23985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CF9BE-1AF0-4A76-9EC1-42976CDE0D7A}">
      <dsp:nvSpPr>
        <dsp:cNvPr id="0" name=""/>
        <dsp:cNvSpPr/>
      </dsp:nvSpPr>
      <dsp:spPr>
        <a:xfrm>
          <a:off x="438952" y="717328"/>
          <a:ext cx="712705" cy="7127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7256D89-7D6B-44E9-8472-A715B882DA76}">
      <dsp:nvSpPr>
        <dsp:cNvPr id="0" name=""/>
        <dsp:cNvSpPr/>
      </dsp:nvSpPr>
      <dsp:spPr>
        <a:xfrm>
          <a:off x="3410" y="1725539"/>
          <a:ext cx="1583789" cy="961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Sprint Planning</a:t>
          </a:r>
          <a:r>
            <a:rPr lang="en-US" sz="1100" kern="1200"/>
            <a:t>: Teams plan the sprint by defining the work to be completed, often using user stories and effort estimation.</a:t>
          </a:r>
        </a:p>
      </dsp:txBody>
      <dsp:txXfrm>
        <a:off x="3410" y="1725539"/>
        <a:ext cx="1583789" cy="961409"/>
      </dsp:txXfrm>
    </dsp:sp>
    <dsp:sp modelId="{C150B759-4361-46C6-A012-8AAF40203CE4}">
      <dsp:nvSpPr>
        <dsp:cNvPr id="0" name=""/>
        <dsp:cNvSpPr/>
      </dsp:nvSpPr>
      <dsp:spPr>
        <a:xfrm>
          <a:off x="2299904" y="717328"/>
          <a:ext cx="712705" cy="7127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728D18-894C-44CC-A862-A6DE8651EF66}">
      <dsp:nvSpPr>
        <dsp:cNvPr id="0" name=""/>
        <dsp:cNvSpPr/>
      </dsp:nvSpPr>
      <dsp:spPr>
        <a:xfrm>
          <a:off x="1864362" y="1725539"/>
          <a:ext cx="1583789" cy="961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Development (Sprint Execution)</a:t>
          </a:r>
          <a:r>
            <a:rPr lang="en-US" sz="1100" kern="1200"/>
            <a:t>: Daily standups encourage accountability, quick decision-making, and ongoing progress tracking.</a:t>
          </a:r>
        </a:p>
      </dsp:txBody>
      <dsp:txXfrm>
        <a:off x="1864362" y="1725539"/>
        <a:ext cx="1583789" cy="961409"/>
      </dsp:txXfrm>
    </dsp:sp>
    <dsp:sp modelId="{04AF98EF-EAEE-4709-998C-70F1E735DC7B}">
      <dsp:nvSpPr>
        <dsp:cNvPr id="0" name=""/>
        <dsp:cNvSpPr/>
      </dsp:nvSpPr>
      <dsp:spPr>
        <a:xfrm>
          <a:off x="4160856" y="717328"/>
          <a:ext cx="712705" cy="7127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B4CCF9-D1E4-4C97-959F-86D897E9F43D}">
      <dsp:nvSpPr>
        <dsp:cNvPr id="0" name=""/>
        <dsp:cNvSpPr/>
      </dsp:nvSpPr>
      <dsp:spPr>
        <a:xfrm>
          <a:off x="3725314" y="1725539"/>
          <a:ext cx="1583789" cy="961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Sprint Review</a:t>
          </a:r>
          <a:r>
            <a:rPr lang="en-US" sz="1100" kern="1200"/>
            <a:t>: The team showcases completed work to stakeholders and gathers feedback to refine future sprints.</a:t>
          </a:r>
        </a:p>
      </dsp:txBody>
      <dsp:txXfrm>
        <a:off x="3725314" y="1725539"/>
        <a:ext cx="1583789" cy="961409"/>
      </dsp:txXfrm>
    </dsp:sp>
    <dsp:sp modelId="{08735107-5863-4AC2-9B49-BBDB4326829B}">
      <dsp:nvSpPr>
        <dsp:cNvPr id="0" name=""/>
        <dsp:cNvSpPr/>
      </dsp:nvSpPr>
      <dsp:spPr>
        <a:xfrm>
          <a:off x="6021808" y="717328"/>
          <a:ext cx="712705" cy="71270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C1129A0-A4E8-4D6E-9857-D1A3EAB778BD}">
      <dsp:nvSpPr>
        <dsp:cNvPr id="0" name=""/>
        <dsp:cNvSpPr/>
      </dsp:nvSpPr>
      <dsp:spPr>
        <a:xfrm>
          <a:off x="5586266" y="1725539"/>
          <a:ext cx="1583789" cy="961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Sprint Retrospective</a:t>
          </a:r>
          <a:r>
            <a:rPr lang="en-US" sz="1100" kern="1200"/>
            <a:t>: A dedicated session to analyze the sprint process, celebrate wins, and identify improvements.</a:t>
          </a:r>
        </a:p>
      </dsp:txBody>
      <dsp:txXfrm>
        <a:off x="5586266" y="1725539"/>
        <a:ext cx="1583789" cy="961409"/>
      </dsp:txXfrm>
    </dsp:sp>
    <dsp:sp modelId="{DBE94136-31BF-4D26-9CE4-9F8874F9C8E4}">
      <dsp:nvSpPr>
        <dsp:cNvPr id="0" name=""/>
        <dsp:cNvSpPr/>
      </dsp:nvSpPr>
      <dsp:spPr>
        <a:xfrm>
          <a:off x="7882760" y="717328"/>
          <a:ext cx="712705" cy="71270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AFF2E67-06FF-41E4-93A7-8D1A0E8DF98A}">
      <dsp:nvSpPr>
        <dsp:cNvPr id="0" name=""/>
        <dsp:cNvSpPr/>
      </dsp:nvSpPr>
      <dsp:spPr>
        <a:xfrm>
          <a:off x="7447218" y="1725539"/>
          <a:ext cx="1583789" cy="961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i="1" kern="1200"/>
            <a:t>Example: The story for multi-factor authentication was collaboratively broken into subtasks, enabling smoother execution and test coverage.</a:t>
          </a:r>
          <a:endParaRPr lang="en-US" sz="1100" kern="1200"/>
        </a:p>
      </dsp:txBody>
      <dsp:txXfrm>
        <a:off x="7447218" y="1725539"/>
        <a:ext cx="1583789" cy="961409"/>
      </dsp:txXfrm>
    </dsp:sp>
    <dsp:sp modelId="{49DDA637-7B75-458B-9176-A5573A19D782}">
      <dsp:nvSpPr>
        <dsp:cNvPr id="0" name=""/>
        <dsp:cNvSpPr/>
      </dsp:nvSpPr>
      <dsp:spPr>
        <a:xfrm>
          <a:off x="9499244" y="811875"/>
          <a:ext cx="1265072" cy="1375805"/>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17FB59D-6B89-422E-B9DF-D3CCD6D2F777}">
      <dsp:nvSpPr>
        <dsp:cNvPr id="0" name=""/>
        <dsp:cNvSpPr/>
      </dsp:nvSpPr>
      <dsp:spPr>
        <a:xfrm>
          <a:off x="9308170" y="1891314"/>
          <a:ext cx="1583789" cy="961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endParaRPr lang="en-US" sz="1100" kern="1200"/>
        </a:p>
      </dsp:txBody>
      <dsp:txXfrm>
        <a:off x="9308170" y="1891314"/>
        <a:ext cx="1583789" cy="96140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3440B4-626E-4F3C-BAEA-93BE989AF4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53A5570-8E4E-4AA9-B246-5A27A383B9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4A69E4-EFBB-4687-8058-A94EE1B5781B}" type="datetimeFigureOut">
              <a:rPr lang="en-US" smtClean="0"/>
              <a:t>4/20/2025</a:t>
            </a:fld>
            <a:endParaRPr lang="en-US" dirty="0"/>
          </a:p>
        </p:txBody>
      </p:sp>
      <p:sp>
        <p:nvSpPr>
          <p:cNvPr id="4" name="Footer Placeholder 3">
            <a:extLst>
              <a:ext uri="{FF2B5EF4-FFF2-40B4-BE49-F238E27FC236}">
                <a16:creationId xmlns:a16="http://schemas.microsoft.com/office/drawing/2014/main" id="{D50D364A-9468-466A-ACCD-ABB3762BE8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E9EF394-4AD6-48D1-9C4C-1B3D44BBF5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004FE7-BA7C-4FF4-9756-C6A1F2BCA37F}" type="slidenum">
              <a:rPr lang="en-US" smtClean="0"/>
              <a:t>‹#›</a:t>
            </a:fld>
            <a:endParaRPr lang="en-US" dirty="0"/>
          </a:p>
        </p:txBody>
      </p:sp>
    </p:spTree>
    <p:extLst>
      <p:ext uri="{BB962C8B-B14F-4D97-AF65-F5344CB8AC3E}">
        <p14:creationId xmlns:p14="http://schemas.microsoft.com/office/powerpoint/2010/main" val="2097717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546B2-EB9C-4E9C-8793-C25F32D58B9A}" type="datetimeFigureOut">
              <a:rPr lang="en-US" smtClean="0"/>
              <a:t>4/20/2025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3F1C3-4FA3-4491-97F4-43CA9C8BDFDF}" type="slidenum">
              <a:rPr lang="en-US" smtClean="0"/>
              <a:t>‹#›</a:t>
            </a:fld>
            <a:endParaRPr lang="en-US" dirty="0"/>
          </a:p>
        </p:txBody>
      </p:sp>
    </p:spTree>
    <p:extLst>
      <p:ext uri="{BB962C8B-B14F-4D97-AF65-F5344CB8AC3E}">
        <p14:creationId xmlns:p14="http://schemas.microsoft.com/office/powerpoint/2010/main" val="379634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wrike.com/scrum-guide/daily-scru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By: Shelby Joiner</a:t>
            </a:r>
          </a:p>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1</a:t>
            </a:fld>
            <a:endParaRPr lang="en-US" dirty="0"/>
          </a:p>
        </p:txBody>
      </p:sp>
    </p:spTree>
    <p:extLst>
      <p:ext uri="{BB962C8B-B14F-4D97-AF65-F5344CB8AC3E}">
        <p14:creationId xmlns:p14="http://schemas.microsoft.com/office/powerpoint/2010/main" val="3631956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Subtitle:</a:t>
            </a:r>
            <a:r>
              <a:rPr lang="en-US" dirty="0"/>
              <a:t> A Presentation for Leadership Decision-Making</a:t>
            </a:r>
            <a:br>
              <a:rPr lang="en-US" dirty="0"/>
            </a:br>
            <a:r>
              <a:rPr lang="en-US" b="1" dirty="0"/>
              <a:t>Presented by:</a:t>
            </a:r>
            <a:r>
              <a:rPr lang="en-US" dirty="0"/>
              <a:t> Shelby Joiner</a:t>
            </a:r>
            <a:br>
              <a:rPr lang="en-US" dirty="0"/>
            </a:br>
            <a:r>
              <a:rPr lang="en-US" b="1" dirty="0"/>
              <a:t>Role:</a:t>
            </a:r>
            <a:r>
              <a:rPr lang="en-US" dirty="0"/>
              <a:t> Developer</a:t>
            </a:r>
          </a:p>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2</a:t>
            </a:fld>
            <a:endParaRPr lang="en-US" dirty="0"/>
          </a:p>
        </p:txBody>
      </p:sp>
    </p:spTree>
    <p:extLst>
      <p:ext uri="{BB962C8B-B14F-4D97-AF65-F5344CB8AC3E}">
        <p14:creationId xmlns:p14="http://schemas.microsoft.com/office/powerpoint/2010/main" val="1494089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100"/>
              </a:lnSpc>
              <a:spcBef>
                <a:spcPts val="1200"/>
              </a:spcBef>
              <a:spcAft>
                <a:spcPts val="1200"/>
              </a:spcAft>
              <a:buFont typeface="Arial" panose="020B0604020202020204" pitchFamily="34" charset="0"/>
              <a:buChar char="•"/>
            </a:pPr>
            <a:r>
              <a:rPr lang="en-US" b="1" dirty="0"/>
              <a:t>Scrum Master</a:t>
            </a:r>
            <a:r>
              <a:rPr lang="en-US" dirty="0"/>
              <a:t>: </a:t>
            </a:r>
            <a:r>
              <a:rPr lang="en-US" b="1" i="0" dirty="0">
                <a:solidFill>
                  <a:srgbClr val="2B3A57"/>
                </a:solidFill>
                <a:effectLst/>
                <a:latin typeface="TT_Norms_Pro"/>
              </a:rPr>
              <a:t>Facilitating Agile Scrum principles:</a:t>
            </a:r>
            <a:r>
              <a:rPr lang="en-US" b="0" i="0" dirty="0">
                <a:solidFill>
                  <a:srgbClr val="2B3A57"/>
                </a:solidFill>
                <a:effectLst/>
                <a:latin typeface="TT_Norms_Pro"/>
              </a:rPr>
              <a:t> The Scrum master is in charge of upholding and training team members on Agile Scrum principles and enforcing its application. They keep the product owner and development team on the Agile track as needed. The Scrum master also facilitates Scrum events like the </a:t>
            </a:r>
            <a:r>
              <a:rPr lang="en-US" b="0" i="0" u="none" strike="noStrike" dirty="0">
                <a:solidFill>
                  <a:srgbClr val="0073D3"/>
                </a:solidFill>
                <a:effectLst/>
                <a:latin typeface="inherit"/>
                <a:hlinkClick r:id="rId3"/>
              </a:rPr>
              <a:t>daily stand-up meeting</a:t>
            </a:r>
            <a:r>
              <a:rPr lang="en-US" b="0" i="0" dirty="0">
                <a:solidFill>
                  <a:srgbClr val="2B3A57"/>
                </a:solidFill>
                <a:effectLst/>
                <a:latin typeface="TT_Norms_Pro"/>
              </a:rPr>
              <a:t>. Often, they coordinate the time, venue, participants, and any other factor necessary for the success of the meeting.</a:t>
            </a:r>
          </a:p>
          <a:p>
            <a:pPr algn="l">
              <a:lnSpc>
                <a:spcPts val="2100"/>
              </a:lnSpc>
              <a:spcBef>
                <a:spcPts val="1200"/>
              </a:spcBef>
              <a:spcAft>
                <a:spcPts val="1200"/>
              </a:spcAft>
              <a:buFont typeface="Arial" panose="020B0604020202020204" pitchFamily="34" charset="0"/>
              <a:buChar char="•"/>
            </a:pPr>
            <a:r>
              <a:rPr lang="en-US" b="1" i="0" dirty="0">
                <a:solidFill>
                  <a:srgbClr val="2B3A57"/>
                </a:solidFill>
                <a:effectLst/>
                <a:latin typeface="TT_Norms_Pro"/>
              </a:rPr>
              <a:t>Coaching</a:t>
            </a:r>
            <a:r>
              <a:rPr lang="en-US" b="0" i="0" dirty="0">
                <a:solidFill>
                  <a:srgbClr val="2B3A57"/>
                </a:solidFill>
                <a:effectLst/>
                <a:latin typeface="TT_Norms_Pro"/>
              </a:rPr>
              <a:t> The Scrum master acts as a guide for the Scrum team, making sure they are focusing on the sprint goal and collaborating effectively with other members of the team</a:t>
            </a:r>
          </a:p>
          <a:p>
            <a:pPr algn="l">
              <a:lnSpc>
                <a:spcPts val="2100"/>
              </a:lnSpc>
              <a:spcBef>
                <a:spcPts val="1200"/>
              </a:spcBef>
              <a:spcAft>
                <a:spcPts val="1200"/>
              </a:spcAft>
              <a:buFont typeface="Arial" panose="020B0604020202020204" pitchFamily="34" charset="0"/>
              <a:buChar char="•"/>
            </a:pPr>
            <a:r>
              <a:rPr lang="en-US" b="1" i="0" dirty="0">
                <a:solidFill>
                  <a:srgbClr val="2B3A57"/>
                </a:solidFill>
                <a:effectLst/>
                <a:latin typeface="TT_Norms_Pro"/>
              </a:rPr>
              <a:t>Removing roadblocks and distractions: </a:t>
            </a:r>
            <a:r>
              <a:rPr lang="en-US" b="0" i="0" dirty="0">
                <a:solidFill>
                  <a:srgbClr val="2B3A57"/>
                </a:solidFill>
                <a:effectLst/>
                <a:latin typeface="TT_Norms_Pro"/>
              </a:rPr>
              <a:t>In cases where external influences start to affect the team’s deliverables, it is the job of the Scrum master to ensure that these distractions are eliminated.</a:t>
            </a:r>
          </a:p>
          <a:p>
            <a:pPr algn="l">
              <a:lnSpc>
                <a:spcPts val="2100"/>
              </a:lnSpc>
              <a:spcBef>
                <a:spcPts val="1200"/>
              </a:spcBef>
              <a:spcAft>
                <a:spcPts val="1200"/>
              </a:spcAft>
              <a:buFont typeface="Arial" panose="020B0604020202020204" pitchFamily="34" charset="0"/>
              <a:buChar char="•"/>
            </a:pPr>
            <a:r>
              <a:rPr lang="en-US" b="1" i="0" dirty="0">
                <a:solidFill>
                  <a:srgbClr val="2B3A57"/>
                </a:solidFill>
                <a:effectLst/>
                <a:latin typeface="TT_Norms_Pro"/>
              </a:rPr>
              <a:t>Mediating:</a:t>
            </a:r>
            <a:r>
              <a:rPr lang="en-US" b="0" i="0" dirty="0">
                <a:solidFill>
                  <a:srgbClr val="2B3A57"/>
                </a:solidFill>
                <a:effectLst/>
                <a:latin typeface="TT_Norms_Pro"/>
              </a:rPr>
              <a:t> Sometimes, the development team and product owner have disagreements. The Scrum master can often help resolve these issues. </a:t>
            </a:r>
          </a:p>
          <a:p>
            <a:pPr>
              <a:buFont typeface="Arial" panose="020B0604020202020204" pitchFamily="34" charset="0"/>
              <a:buChar char="•"/>
            </a:pPr>
            <a:r>
              <a:rPr lang="en-US" b="1" dirty="0"/>
              <a:t>Product Owner (PO)</a:t>
            </a:r>
            <a:r>
              <a:rPr lang="en-US" dirty="0"/>
              <a:t>: Represents the customer's voice, manages the product backlog, and prioritizes work based on business value.</a:t>
            </a:r>
          </a:p>
          <a:p>
            <a:pPr marL="742950" lvl="1" indent="-285750">
              <a:buFont typeface="Arial" panose="020B0604020202020204" pitchFamily="34" charset="0"/>
              <a:buChar char="•"/>
            </a:pPr>
            <a:r>
              <a:rPr lang="en-US" i="1" dirty="0"/>
              <a:t>Example:</a:t>
            </a:r>
            <a:r>
              <a:rPr lang="en-US" dirty="0"/>
              <a:t> Reprioritized backlog items following a product demo and direct client feedback.</a:t>
            </a:r>
          </a:p>
          <a:p>
            <a:pPr>
              <a:buFont typeface="Arial" panose="020B0604020202020204" pitchFamily="34" charset="0"/>
              <a:buChar char="•"/>
            </a:pPr>
            <a:r>
              <a:rPr lang="en-US" b="1" dirty="0"/>
              <a:t>Developers</a:t>
            </a:r>
            <a:r>
              <a:rPr lang="en-US" dirty="0"/>
              <a:t>: Self-organizing team members responsible for delivering high-quality product increments each sprint.</a:t>
            </a:r>
          </a:p>
          <a:p>
            <a:pPr marL="742950" lvl="1" indent="-285750">
              <a:buFont typeface="Arial" panose="020B0604020202020204" pitchFamily="34" charset="0"/>
              <a:buChar char="•"/>
            </a:pPr>
            <a:r>
              <a:rPr lang="en-US" i="1" dirty="0"/>
              <a:t>Example:</a:t>
            </a:r>
            <a:r>
              <a:rPr lang="en-US" dirty="0"/>
              <a:t> Worked collaboratively to implement OAuth2.0 login and debug schema mismatches.</a:t>
            </a:r>
          </a:p>
          <a:p>
            <a:r>
              <a:rPr lang="en-US" i="1" dirty="0"/>
              <a:t>Cited Source:</a:t>
            </a:r>
            <a:r>
              <a:rPr lang="en-US" dirty="0"/>
              <a:t> Schwaber &amp; Sutherland (2020)</a:t>
            </a:r>
          </a:p>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3</a:t>
            </a:fld>
            <a:endParaRPr lang="en-US" dirty="0"/>
          </a:p>
        </p:txBody>
      </p:sp>
    </p:spTree>
    <p:extLst>
      <p:ext uri="{BB962C8B-B14F-4D97-AF65-F5344CB8AC3E}">
        <p14:creationId xmlns:p14="http://schemas.microsoft.com/office/powerpoint/2010/main" val="2609222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Agile Development Lifecycle with Scrum</a:t>
            </a:r>
            <a:endParaRPr lang="en-US" dirty="0"/>
          </a:p>
          <a:p>
            <a:pPr>
              <a:buFont typeface="Arial" panose="020B0604020202020204" pitchFamily="34" charset="0"/>
              <a:buChar char="•"/>
            </a:pPr>
            <a:endParaRPr lang="en-US" b="1" dirty="0"/>
          </a:p>
          <a:p>
            <a:pPr>
              <a:buFont typeface="Arial" panose="020B0604020202020204" pitchFamily="34" charset="0"/>
              <a:buChar char="•"/>
            </a:pPr>
            <a:r>
              <a:rPr lang="en-US" b="1" dirty="0"/>
              <a:t>Sprint Planning</a:t>
            </a:r>
            <a:r>
              <a:rPr lang="en-US" dirty="0"/>
              <a:t>: Teams plan the sprint by defining the work to be completed, often using user stories and effort estimation.</a:t>
            </a:r>
          </a:p>
          <a:p>
            <a:pPr>
              <a:buFont typeface="Arial" panose="020B0604020202020204" pitchFamily="34" charset="0"/>
              <a:buChar char="•"/>
            </a:pPr>
            <a:r>
              <a:rPr lang="en-US" b="1" dirty="0"/>
              <a:t>Development (Sprint Execution)</a:t>
            </a:r>
            <a:r>
              <a:rPr lang="en-US" dirty="0"/>
              <a:t>: Daily standups encourage accountability, quick decision-making, and ongoing progress tracking.</a:t>
            </a:r>
          </a:p>
          <a:p>
            <a:pPr>
              <a:buFont typeface="Arial" panose="020B0604020202020204" pitchFamily="34" charset="0"/>
              <a:buChar char="•"/>
            </a:pPr>
            <a:r>
              <a:rPr lang="en-US" b="1" dirty="0"/>
              <a:t>Sprint Review</a:t>
            </a:r>
            <a:r>
              <a:rPr lang="en-US" dirty="0"/>
              <a:t>: The team showcases completed work to stakeholders and gathers feedback to refine future sprints.</a:t>
            </a:r>
          </a:p>
          <a:p>
            <a:pPr>
              <a:buFont typeface="Arial" panose="020B0604020202020204" pitchFamily="34" charset="0"/>
              <a:buChar char="•"/>
            </a:pPr>
            <a:r>
              <a:rPr lang="en-US" b="1" dirty="0"/>
              <a:t>Sprint Retrospective</a:t>
            </a:r>
            <a:r>
              <a:rPr lang="en-US" dirty="0"/>
              <a:t>: A dedicated session to analyze the sprint process, celebrate wins, and identify improvements.</a:t>
            </a:r>
          </a:p>
        </p:txBody>
      </p:sp>
      <p:sp>
        <p:nvSpPr>
          <p:cNvPr id="4" name="Slide Number Placeholder 3"/>
          <p:cNvSpPr>
            <a:spLocks noGrp="1"/>
          </p:cNvSpPr>
          <p:nvPr>
            <p:ph type="sldNum" sz="quarter" idx="5"/>
          </p:nvPr>
        </p:nvSpPr>
        <p:spPr/>
        <p:txBody>
          <a:bodyPr/>
          <a:lstStyle/>
          <a:p>
            <a:fld id="{6B83F1C3-4FA3-4491-97F4-43CA9C8BDFDF}" type="slidenum">
              <a:rPr lang="en-US" smtClean="0"/>
              <a:t>4</a:t>
            </a:fld>
            <a:endParaRPr lang="en-US" dirty="0"/>
          </a:p>
        </p:txBody>
      </p:sp>
    </p:spTree>
    <p:extLst>
      <p:ext uri="{BB962C8B-B14F-4D97-AF65-F5344CB8AC3E}">
        <p14:creationId xmlns:p14="http://schemas.microsoft.com/office/powerpoint/2010/main" val="223695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US" b="1" dirty="0"/>
              <a:t>Comparing Agile and Waterfall in Real Projects</a:t>
            </a:r>
            <a:br>
              <a:rPr lang="en-US" dirty="0"/>
            </a:br>
            <a:endParaRPr lang="en-US" b="1" dirty="0"/>
          </a:p>
          <a:p>
            <a:pPr>
              <a:buFont typeface="Arial" panose="020B0604020202020204" pitchFamily="34" charset="0"/>
              <a:buChar char="•"/>
            </a:pPr>
            <a:r>
              <a:rPr lang="en-US" b="1" dirty="0"/>
              <a:t>Waterfall</a:t>
            </a:r>
            <a:r>
              <a:rPr lang="en-US" dirty="0"/>
              <a:t>: A sequential, structured methodology best suited for projects with fixed scope, timelines, and deliverables. Each phase must be completed before the next begins.</a:t>
            </a:r>
          </a:p>
          <a:p>
            <a:pPr>
              <a:buFont typeface="Arial" panose="020B0604020202020204" pitchFamily="34" charset="0"/>
              <a:buChar char="•"/>
            </a:pPr>
            <a:r>
              <a:rPr lang="en-US" b="1" dirty="0"/>
              <a:t>Agile</a:t>
            </a:r>
            <a:r>
              <a:rPr lang="en-US" dirty="0"/>
              <a:t>: A flexible, iterative framework that welcomes change, encourages collaboration, and delivers working software incrementally.</a:t>
            </a:r>
          </a:p>
          <a:p>
            <a:pPr>
              <a:buFont typeface="Arial" panose="020B0604020202020204" pitchFamily="34" charset="0"/>
              <a:buChar char="•"/>
            </a:pPr>
            <a:r>
              <a:rPr lang="en-US" i="1" dirty="0"/>
              <a:t>Project Experience Example:</a:t>
            </a:r>
            <a:r>
              <a:rPr lang="en-US" dirty="0"/>
              <a:t> During an Agile sprint, the UI team accommodated a mid-sprint client revision seamlessly. In Waterfall, the same change would have required a formal change request, delaying progress.</a:t>
            </a:r>
          </a:p>
          <a:p>
            <a:r>
              <a:rPr lang="en-US" i="1" dirty="0"/>
              <a:t>Cited Source:</a:t>
            </a:r>
            <a:r>
              <a:rPr lang="en-US" dirty="0"/>
              <a:t> Project Management Institute (PMI), 2021</a:t>
            </a:r>
          </a:p>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5</a:t>
            </a:fld>
            <a:endParaRPr lang="en-US" dirty="0"/>
          </a:p>
        </p:txBody>
      </p:sp>
    </p:spTree>
    <p:extLst>
      <p:ext uri="{BB962C8B-B14F-4D97-AF65-F5344CB8AC3E}">
        <p14:creationId xmlns:p14="http://schemas.microsoft.com/office/powerpoint/2010/main" val="3917129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When to Choose Agile or Waterfall</a:t>
            </a:r>
            <a:endParaRPr lang="en-US" dirty="0"/>
          </a:p>
          <a:p>
            <a:endParaRPr lang="en-US" dirty="0"/>
          </a:p>
          <a:p>
            <a:pPr>
              <a:buFont typeface="Arial" panose="020B0604020202020204" pitchFamily="34" charset="0"/>
              <a:buChar char="•"/>
            </a:pPr>
            <a:r>
              <a:rPr lang="en-US" b="1" dirty="0"/>
              <a:t>Choose Agile if:</a:t>
            </a:r>
            <a:endParaRPr lang="en-US" dirty="0"/>
          </a:p>
          <a:p>
            <a:pPr marL="742950" lvl="1" indent="-285750">
              <a:buFont typeface="Arial" panose="020B0604020202020204" pitchFamily="34" charset="0"/>
              <a:buChar char="•"/>
            </a:pPr>
            <a:r>
              <a:rPr lang="en-US" dirty="0"/>
              <a:t>The project involves evolving requirements or exploratory work</a:t>
            </a:r>
          </a:p>
          <a:p>
            <a:pPr marL="742950" lvl="1" indent="-285750">
              <a:buFont typeface="Arial" panose="020B0604020202020204" pitchFamily="34" charset="0"/>
              <a:buChar char="•"/>
            </a:pPr>
            <a:r>
              <a:rPr lang="en-US" dirty="0"/>
              <a:t>Stakeholders provide frequent input</a:t>
            </a:r>
          </a:p>
          <a:p>
            <a:pPr marL="742950" lvl="1" indent="-285750">
              <a:buFont typeface="Arial" panose="020B0604020202020204" pitchFamily="34" charset="0"/>
              <a:buChar char="•"/>
            </a:pPr>
            <a:r>
              <a:rPr lang="en-US" dirty="0"/>
              <a:t>The development process values speed, learning, and adaptability</a:t>
            </a:r>
          </a:p>
          <a:p>
            <a:pPr>
              <a:buFont typeface="Arial" panose="020B0604020202020204" pitchFamily="34" charset="0"/>
              <a:buChar char="•"/>
            </a:pPr>
            <a:r>
              <a:rPr lang="en-US" b="1" dirty="0"/>
              <a:t>Choose Waterfall if:</a:t>
            </a:r>
            <a:endParaRPr lang="en-US" dirty="0"/>
          </a:p>
          <a:p>
            <a:pPr marL="742950" lvl="1" indent="-285750">
              <a:buFont typeface="Arial" panose="020B0604020202020204" pitchFamily="34" charset="0"/>
              <a:buChar char="•"/>
            </a:pPr>
            <a:r>
              <a:rPr lang="en-US" dirty="0"/>
              <a:t>The scope is well-defined and unlikely to change</a:t>
            </a:r>
          </a:p>
          <a:p>
            <a:pPr marL="742950" lvl="1" indent="-285750">
              <a:buFont typeface="Arial" panose="020B0604020202020204" pitchFamily="34" charset="0"/>
              <a:buChar char="•"/>
            </a:pPr>
            <a:r>
              <a:rPr lang="en-US" dirty="0"/>
              <a:t>Compliance, documentation, or regulatory oversight is a priority</a:t>
            </a:r>
          </a:p>
          <a:p>
            <a:pPr marL="742950" lvl="1" indent="-285750">
              <a:buFont typeface="Arial" panose="020B0604020202020204" pitchFamily="34" charset="0"/>
              <a:buChar char="•"/>
            </a:pPr>
            <a:r>
              <a:rPr lang="en-US" dirty="0"/>
              <a:t>The project needs a predictable schedule and budget</a:t>
            </a:r>
          </a:p>
          <a:p>
            <a:pPr>
              <a:buNone/>
            </a:pPr>
            <a:r>
              <a:rPr lang="en-US" i="1" dirty="0"/>
              <a:t>Case Insight:</a:t>
            </a:r>
            <a:r>
              <a:rPr lang="en-US" dirty="0"/>
              <a:t> Our team chose Agile for its adaptability, given the client’s iterative feedback, evolving scope, and high collaboration requirements.</a:t>
            </a:r>
          </a:p>
          <a:p>
            <a:pPr>
              <a:buNone/>
            </a:pPr>
            <a:endParaRPr lang="en-US" dirty="0"/>
          </a:p>
          <a:p>
            <a:pPr>
              <a:buNone/>
            </a:pPr>
            <a:r>
              <a:rPr lang="en-US" i="1" dirty="0"/>
              <a:t>Cited Sources:</a:t>
            </a:r>
            <a:endParaRPr lang="en-US" dirty="0"/>
          </a:p>
          <a:p>
            <a:pPr>
              <a:buFont typeface="Arial" panose="020B0604020202020204" pitchFamily="34" charset="0"/>
              <a:buChar char="•"/>
            </a:pPr>
            <a:r>
              <a:rPr lang="en-US" dirty="0"/>
              <a:t>Highsmith, J. (2019). </a:t>
            </a:r>
            <a:r>
              <a:rPr lang="en-US" i="1" dirty="0"/>
              <a:t>Agile Project Management</a:t>
            </a:r>
            <a:r>
              <a:rPr lang="en-US" dirty="0"/>
              <a:t>. Addison-Wesley.</a:t>
            </a:r>
          </a:p>
          <a:p>
            <a:pPr>
              <a:buFont typeface="Arial" panose="020B0604020202020204" pitchFamily="34" charset="0"/>
              <a:buChar char="•"/>
            </a:pPr>
            <a:r>
              <a:rPr lang="en-US" dirty="0" err="1"/>
              <a:t>Poppendieck</a:t>
            </a:r>
            <a:r>
              <a:rPr lang="en-US" dirty="0"/>
              <a:t>, M., &amp; </a:t>
            </a:r>
            <a:r>
              <a:rPr lang="en-US" dirty="0" err="1"/>
              <a:t>Poppendieck</a:t>
            </a:r>
            <a:r>
              <a:rPr lang="en-US" dirty="0"/>
              <a:t>, T. (2018). </a:t>
            </a:r>
            <a:r>
              <a:rPr lang="en-US" i="1" dirty="0"/>
              <a:t>Lean Software Development</a:t>
            </a:r>
            <a:r>
              <a:rPr lang="en-US" dirty="0"/>
              <a:t>. Addison-Wesley.</a:t>
            </a:r>
          </a:p>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6</a:t>
            </a:fld>
            <a:endParaRPr lang="en-US" dirty="0"/>
          </a:p>
        </p:txBody>
      </p:sp>
    </p:spTree>
    <p:extLst>
      <p:ext uri="{BB962C8B-B14F-4D97-AF65-F5344CB8AC3E}">
        <p14:creationId xmlns:p14="http://schemas.microsoft.com/office/powerpoint/2010/main" val="3852710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anose="05000000000000000000" pitchFamily="2" charset="2"/>
              <a:buChar char="v"/>
            </a:pPr>
            <a:r>
              <a:rPr lang="en-US" dirty="0"/>
              <a:t>Schwaber, K., &amp; Sutherland, J. (2020). </a:t>
            </a:r>
            <a:r>
              <a:rPr lang="en-US" i="1" dirty="0"/>
              <a:t>2020 Scrum Guide</a:t>
            </a:r>
            <a:r>
              <a:rPr lang="en-US" dirty="0"/>
              <a:t>. https://scrumguides.org/</a:t>
            </a:r>
          </a:p>
          <a:p>
            <a:pPr>
              <a:buFont typeface="Wingdings" panose="05000000000000000000" pitchFamily="2" charset="2"/>
              <a:buChar char="v"/>
            </a:pPr>
            <a:r>
              <a:rPr lang="en-US" dirty="0"/>
              <a:t>Project Management Institute. (2021). </a:t>
            </a:r>
            <a:r>
              <a:rPr lang="en-US" i="1" dirty="0"/>
              <a:t>PMBOK® Guide – Seventh Edition</a:t>
            </a:r>
            <a:r>
              <a:rPr lang="en-US" dirty="0"/>
              <a:t>.</a:t>
            </a:r>
          </a:p>
          <a:p>
            <a:pPr>
              <a:buFont typeface="Wingdings" panose="05000000000000000000" pitchFamily="2" charset="2"/>
              <a:buChar char="v"/>
            </a:pPr>
            <a:r>
              <a:rPr lang="en-US" dirty="0"/>
              <a:t>Highsmith, J. (2019). </a:t>
            </a:r>
            <a:r>
              <a:rPr lang="en-US" i="1" dirty="0"/>
              <a:t>Agile Project Management</a:t>
            </a:r>
            <a:r>
              <a:rPr lang="en-US" dirty="0"/>
              <a:t>. Addison-Wesley.</a:t>
            </a:r>
          </a:p>
          <a:p>
            <a:pPr>
              <a:buFont typeface="Wingdings" panose="05000000000000000000" pitchFamily="2" charset="2"/>
              <a:buChar char="v"/>
            </a:pPr>
            <a:r>
              <a:rPr lang="en-US" dirty="0" err="1"/>
              <a:t>Poppendieck</a:t>
            </a:r>
            <a:r>
              <a:rPr lang="en-US" dirty="0"/>
              <a:t>, M., &amp; </a:t>
            </a:r>
            <a:r>
              <a:rPr lang="en-US" dirty="0" err="1"/>
              <a:t>Poppendieck</a:t>
            </a:r>
            <a:r>
              <a:rPr lang="en-US" dirty="0"/>
              <a:t>, T. (2018). </a:t>
            </a:r>
            <a:r>
              <a:rPr lang="en-US" i="1" dirty="0"/>
              <a:t>Lean Software Development</a:t>
            </a:r>
            <a:r>
              <a:rPr lang="en-US" dirty="0"/>
              <a:t>. Addison-Wesley.</a:t>
            </a:r>
          </a:p>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7</a:t>
            </a:fld>
            <a:endParaRPr lang="en-US" dirty="0"/>
          </a:p>
        </p:txBody>
      </p:sp>
    </p:spTree>
    <p:extLst>
      <p:ext uri="{BB962C8B-B14F-4D97-AF65-F5344CB8AC3E}">
        <p14:creationId xmlns:p14="http://schemas.microsoft.com/office/powerpoint/2010/main" val="661879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65000"/>
              <a:lumOff val="35000"/>
            </a:schemeClr>
          </a:solidFill>
        </p:spPr>
        <p:txBody>
          <a:bodyPr anchor="ctr"/>
          <a:lstStyle>
            <a:lvl1pPr marL="0" indent="0" algn="ctr">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200" y="4517136"/>
            <a:ext cx="6581554" cy="1371600"/>
          </a:xfrm>
        </p:spPr>
        <p:txBody>
          <a:bodyPr>
            <a:normAutofit/>
          </a:bodyPr>
          <a:lstStyle>
            <a:lvl1pPr>
              <a:lnSpc>
                <a:spcPts val="4600"/>
              </a:lnSpc>
              <a:defRPr sz="3600" cap="all" baseline="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650242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50000"/>
              <a:lumOff val="50000"/>
            </a:schemeClr>
          </a:solidFill>
        </p:spPr>
        <p:txBody>
          <a:bodyPr anchor="ctr"/>
          <a:lstStyle>
            <a:lvl1pPr marL="0" indent="0">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p:txBody>
          <a:bodyPr/>
          <a:lstStyle>
            <a:lvl1pPr>
              <a:defRPr cap="all" baseline="0">
                <a:solidFill>
                  <a:schemeClr val="bg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3429000" y="2240280"/>
            <a:ext cx="4645152" cy="4197096"/>
          </a:xfrm>
          <a:prstGeom prst="rect">
            <a:avLst/>
          </a:prstGeom>
        </p:spPr>
        <p:txBody>
          <a:bodyPr/>
          <a:lstStyle>
            <a:lvl1pPr marL="0" indent="0">
              <a:lnSpc>
                <a:spcPts val="28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7" name="Text Placeholder 6">
            <a:extLst>
              <a:ext uri="{FF2B5EF4-FFF2-40B4-BE49-F238E27FC236}">
                <a16:creationId xmlns:a16="http://schemas.microsoft.com/office/drawing/2014/main" id="{EC1CB8E8-F58A-4B26-B8AA-8977FC608E83}"/>
              </a:ext>
            </a:extLst>
          </p:cNvPr>
          <p:cNvSpPr>
            <a:spLocks noGrp="1"/>
          </p:cNvSpPr>
          <p:nvPr>
            <p:ph type="body" sz="quarter" idx="15" hasCustomPrompt="1"/>
          </p:nvPr>
        </p:nvSpPr>
        <p:spPr>
          <a:xfrm>
            <a:off x="630936" y="4498848"/>
            <a:ext cx="2121408" cy="621792"/>
          </a:xfrm>
          <a:prstGeom prst="rect">
            <a:avLst/>
          </a:prstGeom>
        </p:spPr>
        <p:txBody>
          <a:bodyPr lIns="0"/>
          <a:lstStyle>
            <a:lvl1pPr marL="0" indent="0">
              <a:lnSpc>
                <a:spcPts val="1800"/>
              </a:lnSpc>
              <a:spcBef>
                <a:spcPts val="0"/>
              </a:spcBef>
              <a:buNone/>
              <a:defRPr sz="1200" b="1"/>
            </a:lvl1pPr>
            <a:lvl2pPr marL="457200" indent="0">
              <a:lnSpc>
                <a:spcPts val="1800"/>
              </a:lnSpc>
              <a:spcBef>
                <a:spcPts val="0"/>
              </a:spcBef>
              <a:buNone/>
              <a:defRPr sz="1200" b="1"/>
            </a:lvl2pPr>
            <a:lvl3pPr marL="914400" indent="0">
              <a:lnSpc>
                <a:spcPts val="1800"/>
              </a:lnSpc>
              <a:spcBef>
                <a:spcPts val="0"/>
              </a:spcBef>
              <a:buNone/>
              <a:defRPr sz="1200" b="1"/>
            </a:lvl3pPr>
            <a:lvl4pPr marL="1371600" indent="0">
              <a:lnSpc>
                <a:spcPts val="1800"/>
              </a:lnSpc>
              <a:spcBef>
                <a:spcPts val="0"/>
              </a:spcBef>
              <a:buNone/>
              <a:defRPr sz="1200" b="1"/>
            </a:lvl4pPr>
            <a:lvl5pPr marL="1828800" indent="0">
              <a:lnSpc>
                <a:spcPts val="1800"/>
              </a:lnSpc>
              <a:spcBef>
                <a:spcPts val="0"/>
              </a:spcBef>
              <a:buNone/>
              <a:defRPr sz="1200" b="1"/>
            </a:lvl5pPr>
          </a:lstStyle>
          <a:p>
            <a:pPr lvl="0"/>
            <a:r>
              <a:rPr lang="en-US"/>
              <a:t>Click to text</a:t>
            </a:r>
          </a:p>
        </p:txBody>
      </p:sp>
    </p:spTree>
    <p:extLst>
      <p:ext uri="{BB962C8B-B14F-4D97-AF65-F5344CB8AC3E}">
        <p14:creationId xmlns:p14="http://schemas.microsoft.com/office/powerpoint/2010/main" val="198059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lette Balance act">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cap="all" baseline="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2901903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mersive palette Balancing Act">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869985-B973-4011-9FA2-83D7EBB2EA53}"/>
              </a:ext>
            </a:extLst>
          </p:cNvPr>
          <p:cNvSpPr/>
          <p:nvPr userDrawn="1"/>
        </p:nvSpPr>
        <p:spPr>
          <a:xfrm>
            <a:off x="0" y="2400300"/>
            <a:ext cx="4267200" cy="4457700"/>
          </a:xfrm>
          <a:prstGeom prst="rect">
            <a:avLst/>
          </a:prstGeom>
          <a:solidFill>
            <a:srgbClr val="D293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99032"/>
            <a:ext cx="3619501" cy="877824"/>
          </a:xfrm>
        </p:spPr>
        <p:txBody>
          <a:bodyPr/>
          <a:lstStyle>
            <a:lvl1pPr>
              <a:defRPr cap="all" baseline="0">
                <a:solidFill>
                  <a:schemeClr val="bg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254500" y="0"/>
            <a:ext cx="7480300" cy="6858000"/>
          </a:xfrm>
          <a:prstGeom prst="rect">
            <a:avLst/>
          </a:prstGeom>
        </p:spPr>
        <p:txBody>
          <a:bodyPr anchor="ctr"/>
          <a:lstStyle>
            <a:lvl1pPr marL="0" indent="0" algn="ctr">
              <a:buNone/>
              <a:defRPr>
                <a:solidFill>
                  <a:schemeClr val="bg1"/>
                </a:solidFill>
              </a:defRPr>
            </a:lvl1pPr>
          </a:lstStyle>
          <a:p>
            <a:endParaRPr lang="en-US" dirty="0"/>
          </a:p>
        </p:txBody>
      </p:sp>
      <p:sp>
        <p:nvSpPr>
          <p:cNvPr id="8" name="Rectangle 7">
            <a:extLst>
              <a:ext uri="{FF2B5EF4-FFF2-40B4-BE49-F238E27FC236}">
                <a16:creationId xmlns:a16="http://schemas.microsoft.com/office/drawing/2014/main" id="{E75D44F0-DADD-4DCC-82EC-FDB3E9878AA9}"/>
              </a:ext>
            </a:extLst>
          </p:cNvPr>
          <p:cNvSpPr/>
          <p:nvPr userDrawn="1"/>
        </p:nvSpPr>
        <p:spPr>
          <a:xfrm>
            <a:off x="11734800" y="4445000"/>
            <a:ext cx="457200" cy="2413000"/>
          </a:xfrm>
          <a:prstGeom prst="rect">
            <a:avLst/>
          </a:prstGeom>
          <a:solidFill>
            <a:srgbClr val="884C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8CFE2C9-8B6E-4DDA-A5EA-04581F7629F0}"/>
              </a:ext>
            </a:extLst>
          </p:cNvPr>
          <p:cNvSpPr/>
          <p:nvPr userDrawn="1"/>
        </p:nvSpPr>
        <p:spPr>
          <a:xfrm>
            <a:off x="11734800" y="0"/>
            <a:ext cx="457200" cy="4462272"/>
          </a:xfrm>
          <a:prstGeom prst="rect">
            <a:avLst/>
          </a:prstGeom>
          <a:solidFill>
            <a:srgbClr val="86A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182342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structions">
    <p:spTree>
      <p:nvGrpSpPr>
        <p:cNvPr id="1" name=""/>
        <p:cNvGrpSpPr/>
        <p:nvPr/>
      </p:nvGrpSpPr>
      <p:grpSpPr>
        <a:xfrm>
          <a:off x="0" y="0"/>
          <a:ext cx="0" cy="0"/>
          <a:chOff x="0" y="0"/>
          <a:chExt cx="0" cy="0"/>
        </a:xfrm>
      </p:grpSpPr>
      <p:sp>
        <p:nvSpPr>
          <p:cNvPr id="9" name="Rectangle 8" hidden="1"/>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12" name="Title 1">
            <a:extLst>
              <a:ext uri="{FF2B5EF4-FFF2-40B4-BE49-F238E27FC236}">
                <a16:creationId xmlns:a16="http://schemas.microsoft.com/office/drawing/2014/main" id="{96FEDCD9-19A7-423B-ABE0-DDD032DE8879}"/>
              </a:ext>
            </a:extLst>
          </p:cNvPr>
          <p:cNvSpPr>
            <a:spLocks noGrp="1"/>
          </p:cNvSpPr>
          <p:nvPr>
            <p:ph type="title"/>
          </p:nvPr>
        </p:nvSpPr>
        <p:spPr>
          <a:xfrm>
            <a:off x="457199" y="914400"/>
            <a:ext cx="7467601" cy="1572768"/>
          </a:xfrm>
        </p:spPr>
        <p:txBody>
          <a:bodyPr/>
          <a:lstStyle>
            <a:lvl1pPr>
              <a:lnSpc>
                <a:spcPts val="4600"/>
              </a:lnSpc>
              <a:defRPr/>
            </a:lvl1pPr>
          </a:lstStyle>
          <a:p>
            <a:r>
              <a:rPr lang="en-US" dirty="0"/>
              <a:t>Click to edit Master title style</a:t>
            </a:r>
          </a:p>
        </p:txBody>
      </p:sp>
      <p:sp>
        <p:nvSpPr>
          <p:cNvPr id="14" name="Text Placeholder 9">
            <a:extLst>
              <a:ext uri="{FF2B5EF4-FFF2-40B4-BE49-F238E27FC236}">
                <a16:creationId xmlns:a16="http://schemas.microsoft.com/office/drawing/2014/main" id="{EBD7372B-17B4-4062-8BFA-745581B27349}"/>
              </a:ext>
            </a:extLst>
          </p:cNvPr>
          <p:cNvSpPr>
            <a:spLocks noGrp="1"/>
          </p:cNvSpPr>
          <p:nvPr>
            <p:ph type="body" sz="quarter" idx="14" hasCustomPrompt="1"/>
          </p:nvPr>
        </p:nvSpPr>
        <p:spPr>
          <a:xfrm>
            <a:off x="457200" y="2540000"/>
            <a:ext cx="6591300" cy="3403600"/>
          </a:xfrm>
          <a:prstGeom prst="rect">
            <a:avLst/>
          </a:prstGeom>
        </p:spPr>
        <p:txBody>
          <a:bodyPr/>
          <a:lstStyle>
            <a:lvl1pPr marL="342900" indent="-342900">
              <a:lnSpc>
                <a:spcPts val="3000"/>
              </a:lnSpc>
              <a:spcBef>
                <a:spcPts val="0"/>
              </a:spcBef>
              <a:buFont typeface="+mj-lt"/>
              <a:buAutoNum type="arabicPeriod"/>
              <a:defRPr sz="1800"/>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3" name="Picture Placeholder 2">
            <a:extLst>
              <a:ext uri="{FF2B5EF4-FFF2-40B4-BE49-F238E27FC236}">
                <a16:creationId xmlns:a16="http://schemas.microsoft.com/office/drawing/2014/main" id="{C09A28F9-9D68-48A2-A1AD-C1C318C0EC8D}"/>
              </a:ext>
            </a:extLst>
          </p:cNvPr>
          <p:cNvSpPr>
            <a:spLocks noGrp="1"/>
          </p:cNvSpPr>
          <p:nvPr>
            <p:ph type="pic" sz="quarter" idx="15"/>
          </p:nvPr>
        </p:nvSpPr>
        <p:spPr>
          <a:xfrm>
            <a:off x="8115300" y="1384300"/>
            <a:ext cx="3410712" cy="4572000"/>
          </a:xfrm>
          <a:prstGeom prst="roundRect">
            <a:avLst>
              <a:gd name="adj" fmla="val 2543"/>
            </a:avLst>
          </a:prstGeom>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2185836540"/>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lette Wellspring">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2205942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mersive palette Wellspring">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86ECD6-DF3C-4CA6-9A77-ED32AC37F81F}"/>
              </a:ext>
            </a:extLst>
          </p:cNvPr>
          <p:cNvSpPr/>
          <p:nvPr userDrawn="1"/>
        </p:nvSpPr>
        <p:spPr>
          <a:xfrm>
            <a:off x="0" y="0"/>
            <a:ext cx="2445488"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D3F081E-4462-4B33-A41E-0432A3B439D9}"/>
              </a:ext>
            </a:extLst>
          </p:cNvPr>
          <p:cNvSpPr/>
          <p:nvPr userDrawn="1"/>
        </p:nvSpPr>
        <p:spPr>
          <a:xfrm rot="5400000">
            <a:off x="10740656" y="5406656"/>
            <a:ext cx="2445488" cy="457200"/>
          </a:xfrm>
          <a:prstGeom prst="rect">
            <a:avLst/>
          </a:prstGeom>
          <a:solidFill>
            <a:srgbClr val="8A58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05FA2D1-6BF4-4194-B815-8C66D013FD27}"/>
              </a:ext>
            </a:extLst>
          </p:cNvPr>
          <p:cNvSpPr/>
          <p:nvPr userDrawn="1"/>
        </p:nvSpPr>
        <p:spPr>
          <a:xfrm>
            <a:off x="7982712" y="495300"/>
            <a:ext cx="3753612" cy="5943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88F0DF-BC0B-473C-82DC-7FC46D38FAC1}"/>
              </a:ext>
            </a:extLst>
          </p:cNvPr>
          <p:cNvSpPr/>
          <p:nvPr userDrawn="1"/>
        </p:nvSpPr>
        <p:spPr>
          <a:xfrm>
            <a:off x="4251158" y="495300"/>
            <a:ext cx="3787056" cy="594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709160" y="960120"/>
            <a:ext cx="6574536" cy="5074920"/>
          </a:xfrm>
          <a:prstGeom prst="rect">
            <a:avLst/>
          </a:prstGeom>
        </p:spPr>
        <p:txBody>
          <a:bodyPr anchor="ctr"/>
          <a:lstStyle>
            <a:lvl1pPr marL="0" indent="0" algn="ctr">
              <a:buNone/>
              <a:defRPr>
                <a:solidFill>
                  <a:schemeClr val="bg1"/>
                </a:solidFill>
              </a:defRPr>
            </a:lvl1pPr>
          </a:lstStyle>
          <a:p>
            <a:endParaRPr lang="en-US" dirty="0"/>
          </a:p>
        </p:txBody>
      </p:sp>
      <p:sp>
        <p:nvSpPr>
          <p:cNvPr id="13" name="Rectangle 12">
            <a:extLst>
              <a:ext uri="{FF2B5EF4-FFF2-40B4-BE49-F238E27FC236}">
                <a16:creationId xmlns:a16="http://schemas.microsoft.com/office/drawing/2014/main" id="{FDF3E524-6AEB-4529-804C-0B9CD9992050}"/>
              </a:ext>
            </a:extLst>
          </p:cNvPr>
          <p:cNvSpPr/>
          <p:nvPr userDrawn="1"/>
        </p:nvSpPr>
        <p:spPr>
          <a:xfrm>
            <a:off x="228600" y="241300"/>
            <a:ext cx="11772900" cy="6400800"/>
          </a:xfrm>
          <a:prstGeom prst="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4CFF2CAC-AD21-48FA-AD68-A643AAA6A8C4}"/>
              </a:ext>
            </a:extLst>
          </p:cNvPr>
          <p:cNvCxnSpPr>
            <a:cxnSpLocks/>
          </p:cNvCxnSpPr>
          <p:nvPr userDrawn="1"/>
        </p:nvCxnSpPr>
        <p:spPr>
          <a:xfrm>
            <a:off x="228600" y="2415910"/>
            <a:ext cx="402255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71600"/>
            <a:ext cx="3619501" cy="877824"/>
          </a:xfrm>
        </p:spPr>
        <p:txBody>
          <a:bodyPr/>
          <a:lstStyle>
            <a:lvl1pPr>
              <a:lnSpc>
                <a:spcPts val="4320"/>
              </a:lnSpc>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1225590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lette Star of the show">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t"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1553920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mersive palette Star of the show">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462B86F-90E5-425E-9F83-8477D8111E1D}"/>
              </a:ext>
            </a:extLst>
          </p:cNvPr>
          <p:cNvSpPr/>
          <p:nvPr userDrawn="1"/>
        </p:nvSpPr>
        <p:spPr>
          <a:xfrm>
            <a:off x="0" y="495300"/>
            <a:ext cx="6057900" cy="133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5269853-3C2C-4F9C-B1BB-E00F7A1DB9E1}"/>
              </a:ext>
            </a:extLst>
          </p:cNvPr>
          <p:cNvSpPr/>
          <p:nvPr userDrawn="1"/>
        </p:nvSpPr>
        <p:spPr>
          <a:xfrm>
            <a:off x="6530703" y="495300"/>
            <a:ext cx="2931587" cy="26289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3759D58-52AF-4785-8A33-F528F46D88A3}"/>
              </a:ext>
            </a:extLst>
          </p:cNvPr>
          <p:cNvSpPr/>
          <p:nvPr userDrawn="1"/>
        </p:nvSpPr>
        <p:spPr>
          <a:xfrm>
            <a:off x="8852618" y="3863713"/>
            <a:ext cx="2921000" cy="259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AD3E0F4-EC0D-43C2-AC84-A53134C8566E}"/>
              </a:ext>
            </a:extLst>
          </p:cNvPr>
          <p:cNvSpPr/>
          <p:nvPr userDrawn="1"/>
        </p:nvSpPr>
        <p:spPr>
          <a:xfrm>
            <a:off x="228600" y="241300"/>
            <a:ext cx="11772900" cy="6400800"/>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38801" cy="1572126"/>
          </a:xfrm>
        </p:spPr>
        <p:txBody>
          <a:bodyPr anchor="t" anchorCtr="0">
            <a:noAutofit/>
          </a:bodyPr>
          <a:lstStyle>
            <a:lvl1pPr>
              <a:defRPr>
                <a:solidFill>
                  <a:schemeClr val="tx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489200"/>
            <a:ext cx="5202936" cy="3547872"/>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6997700" y="914400"/>
            <a:ext cx="4334256" cy="5093208"/>
          </a:xfrm>
          <a:prstGeom prst="rect">
            <a:avLst/>
          </a:prstGeom>
          <a:solidFill>
            <a:schemeClr val="accent3"/>
          </a:solidFill>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318036680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lette Amusements">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154288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mersive palette Amusements">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A3BC27-A809-4F76-931E-2DE01059A5AB}"/>
              </a:ext>
            </a:extLst>
          </p:cNvPr>
          <p:cNvSpPr/>
          <p:nvPr userDrawn="1"/>
        </p:nvSpPr>
        <p:spPr>
          <a:xfrm>
            <a:off x="6712974" y="1651000"/>
            <a:ext cx="460459" cy="5207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96A5108-5EBA-43CE-BA4A-DA9EEF5D808A}"/>
              </a:ext>
            </a:extLst>
          </p:cNvPr>
          <p:cNvSpPr/>
          <p:nvPr userDrawn="1"/>
        </p:nvSpPr>
        <p:spPr>
          <a:xfrm>
            <a:off x="9271000" y="0"/>
            <a:ext cx="2921000" cy="539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2712910-50D0-4906-AB08-F37D02F96D4A}"/>
              </a:ext>
            </a:extLst>
          </p:cNvPr>
          <p:cNvSpPr/>
          <p:nvPr userDrawn="1"/>
        </p:nvSpPr>
        <p:spPr>
          <a:xfrm>
            <a:off x="0" y="2387600"/>
            <a:ext cx="5461000" cy="215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DAC760C-BE23-4DA2-A294-3B5668F8AECA}"/>
              </a:ext>
            </a:extLst>
          </p:cNvPr>
          <p:cNvSpPr/>
          <p:nvPr userDrawn="1"/>
        </p:nvSpPr>
        <p:spPr>
          <a:xfrm>
            <a:off x="228600" y="241300"/>
            <a:ext cx="11772900" cy="64008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05272" cy="1572126"/>
          </a:xfrm>
        </p:spPr>
        <p:txBody>
          <a:bodyPr anchor="ctr" anchorCtr="0"/>
          <a:lstStyle>
            <a:lvl1pPr>
              <a:defRPr>
                <a:solidFill>
                  <a:schemeClr val="bg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3072384"/>
            <a:ext cx="4946904" cy="2871216"/>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7178040" y="457200"/>
            <a:ext cx="4562856" cy="6400800"/>
          </a:xfrm>
          <a:prstGeom prst="rect">
            <a:avLst/>
          </a:prstGeom>
          <a:solidFill>
            <a:schemeClr val="accent5">
              <a:lumMod val="20000"/>
              <a:lumOff val="80000"/>
            </a:schemeClr>
          </a:solidFill>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403717604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1794012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942978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38152698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4619162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25101982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15070912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16598778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22225479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13288739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20501183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57792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7540934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17160537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27021445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2725638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20039308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310904-DE8F-4B8E-99C6-5AFA03672FFA}"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C5FADE3-B84E-4AF7-91CC-AB47E1A43619}" type="slidenum">
              <a:rPr lang="en-US" smtClean="0"/>
              <a:t>‹#›</a:t>
            </a:fld>
            <a:endParaRPr lang="en-US" dirty="0"/>
          </a:p>
        </p:txBody>
      </p:sp>
    </p:spTree>
    <p:extLst>
      <p:ext uri="{BB962C8B-B14F-4D97-AF65-F5344CB8AC3E}">
        <p14:creationId xmlns:p14="http://schemas.microsoft.com/office/powerpoint/2010/main" val="20604222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65000"/>
              <a:lumOff val="35000"/>
            </a:schemeClr>
          </a:solidFill>
        </p:spPr>
        <p:txBody>
          <a:bodyPr anchor="ctr"/>
          <a:lstStyle>
            <a:lvl1pPr marL="0" indent="0" algn="ctr">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200" y="4517136"/>
            <a:ext cx="6581554" cy="1371600"/>
          </a:xfrm>
        </p:spPr>
        <p:txBody>
          <a:bodyPr>
            <a:normAutofit/>
          </a:bodyPr>
          <a:lstStyle>
            <a:lvl1pPr>
              <a:lnSpc>
                <a:spcPts val="4600"/>
              </a:lnSpc>
              <a:defRPr sz="3600" cap="all" baseline="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441528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3.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image" Target="../media/image5.png"/><Relationship Id="rId10" Type="http://schemas.openxmlformats.org/officeDocument/2006/relationships/slideLayout" Target="../slideLayouts/slideLayout21.xml"/><Relationship Id="rId19" Type="http://schemas.openxmlformats.org/officeDocument/2006/relationships/theme" Target="../theme/theme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4/20/2025</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263488725"/>
      </p:ext>
    </p:extLst>
  </p:cSld>
  <p:clrMap bg1="lt1" tx1="dk1" bg2="lt2" tx2="dk2" accent1="accent1" accent2="accent2" accent3="accent3" accent4="accent4" accent5="accent5" accent6="accent6" hlink="hlink" folHlink="folHlink"/>
  <p:sldLayoutIdLst>
    <p:sldLayoutId id="2147483688" r:id="rId1"/>
    <p:sldLayoutId id="2147483700" r:id="rId2"/>
    <p:sldLayoutId id="2147483701" r:id="rId3"/>
    <p:sldLayoutId id="2147483702" r:id="rId4"/>
    <p:sldLayoutId id="2147483662" r:id="rId5"/>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4/20/2025</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911603562"/>
      </p:ext>
    </p:extLst>
  </p:cSld>
  <p:clrMap bg1="lt1" tx1="dk1" bg2="lt2" tx2="dk2" accent1="accent1" accent2="accent2" accent3="accent3" accent4="accent4" accent5="accent5" accent6="accent6" hlink="hlink" folHlink="folHlink"/>
  <p:sldLayoutIdLst>
    <p:sldLayoutId id="2147483729" r:id="rId1"/>
    <p:sldLayoutId id="2147483711"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4/20/2025</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1044508539"/>
      </p:ext>
    </p:extLst>
  </p:cSld>
  <p:clrMap bg1="lt1" tx1="dk1" bg2="lt2" tx2="dk2" accent1="accent1" accent2="accent2" accent3="accent3" accent4="accent4" accent5="accent5" accent6="accent6" hlink="hlink" folHlink="folHlink"/>
  <p:sldLayoutIdLst>
    <p:sldLayoutId id="2147483730" r:id="rId1"/>
    <p:sldLayoutId id="2147483723"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4/20/2025</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032013640"/>
      </p:ext>
    </p:extLst>
  </p:cSld>
  <p:clrMap bg1="lt1" tx1="dk1" bg2="lt2" tx2="dk2" accent1="accent1" accent2="accent2" accent3="accent3" accent4="accent4" accent5="accent5" accent6="accent6" hlink="hlink" folHlink="folHlink"/>
  <p:sldLayoutIdLst>
    <p:sldLayoutId id="2147483731" r:id="rId1"/>
    <p:sldLayoutId id="2147483704"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F310904-DE8F-4B8E-99C6-5AFA03672FFA}" type="datetimeFigureOut">
              <a:rPr lang="en-US" smtClean="0"/>
              <a:t>4/20/2025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868595421"/>
      </p:ext>
    </p:extLst>
  </p:cSld>
  <p:clrMap bg1="dk1" tx1="lt1" bg2="dk2"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8347D8D-E852-43D5-858E-2D01BE57FA93}"/>
              </a:ext>
            </a:extLst>
          </p:cNvPr>
          <p:cNvSpPr>
            <a:spLocks noGrp="1"/>
          </p:cNvSpPr>
          <p:nvPr>
            <p:ph type="title"/>
          </p:nvPr>
        </p:nvSpPr>
        <p:spPr>
          <a:xfrm>
            <a:off x="8191925" y="1325880"/>
            <a:ext cx="3352375" cy="3066507"/>
          </a:xfrm>
        </p:spPr>
        <p:txBody>
          <a:bodyPr vert="horz" lIns="91440" tIns="45720" rIns="91440" bIns="45720" rtlCol="0" anchor="b" anchorCtr="0">
            <a:normAutofit/>
          </a:bodyPr>
          <a:lstStyle/>
          <a:p>
            <a:r>
              <a:rPr lang="en-US" sz="3400" b="0" i="0" kern="1200">
                <a:solidFill>
                  <a:srgbClr val="EBEBEB"/>
                </a:solidFill>
                <a:latin typeface="+mj-lt"/>
                <a:ea typeface="+mj-ea"/>
                <a:cs typeface="+mj-cs"/>
              </a:rPr>
              <a:t>AGILE DEVELOPMENT</a:t>
            </a:r>
          </a:p>
        </p:txBody>
      </p:sp>
      <p:sp>
        <p:nvSpPr>
          <p:cNvPr id="25"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ectangle 7">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descr="Logo&#10;&#10;Description automatically generated with medium confidence">
            <a:extLst>
              <a:ext uri="{FF2B5EF4-FFF2-40B4-BE49-F238E27FC236}">
                <a16:creationId xmlns:a16="http://schemas.microsoft.com/office/drawing/2014/main" id="{F0D1D821-8A75-8F40-A222-BF16345EB8F9}"/>
              </a:ext>
            </a:extLst>
          </p:cNvPr>
          <p:cNvPicPr>
            <a:picLocks noChangeAspect="1"/>
          </p:cNvPicPr>
          <p:nvPr/>
        </p:nvPicPr>
        <p:blipFill>
          <a:blip r:embed="rId7"/>
          <a:stretch>
            <a:fillRect/>
          </a:stretch>
        </p:blipFill>
        <p:spPr>
          <a:xfrm>
            <a:off x="643854" y="1114893"/>
            <a:ext cx="6270662" cy="4627748"/>
          </a:xfrm>
          <a:prstGeom prst="rect">
            <a:avLst/>
          </a:prstGeom>
          <a:effectLst/>
        </p:spPr>
      </p:pic>
      <p:sp>
        <p:nvSpPr>
          <p:cNvPr id="2" name="TextBox 1">
            <a:extLst>
              <a:ext uri="{FF2B5EF4-FFF2-40B4-BE49-F238E27FC236}">
                <a16:creationId xmlns:a16="http://schemas.microsoft.com/office/drawing/2014/main" id="{2E79CE74-25FE-1BE4-303C-D356D1D3DAC9}"/>
              </a:ext>
            </a:extLst>
          </p:cNvPr>
          <p:cNvSpPr txBox="1"/>
          <p:nvPr/>
        </p:nvSpPr>
        <p:spPr>
          <a:xfrm>
            <a:off x="10867666" y="6261556"/>
            <a:ext cx="1010213" cy="215444"/>
          </a:xfrm>
          <a:prstGeom prst="rect">
            <a:avLst/>
          </a:prstGeom>
          <a:noFill/>
        </p:spPr>
        <p:txBody>
          <a:bodyPr wrap="none" rtlCol="0">
            <a:spAutoFit/>
          </a:bodyPr>
          <a:lstStyle/>
          <a:p>
            <a:r>
              <a:rPr lang="en-US" sz="800" dirty="0">
                <a:solidFill>
                  <a:schemeClr val="bg1"/>
                </a:solidFill>
              </a:rPr>
              <a:t>By: Shelby Joiner</a:t>
            </a:r>
          </a:p>
        </p:txBody>
      </p:sp>
    </p:spTree>
    <p:extLst>
      <p:ext uri="{BB962C8B-B14F-4D97-AF65-F5344CB8AC3E}">
        <p14:creationId xmlns:p14="http://schemas.microsoft.com/office/powerpoint/2010/main" val="15583151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447D2A-0AE5-E0F5-9075-D8A15862752F}"/>
              </a:ext>
            </a:extLst>
          </p:cNvPr>
          <p:cNvSpPr>
            <a:spLocks noGrp="1"/>
          </p:cNvSpPr>
          <p:nvPr>
            <p:ph type="ctrTitle"/>
          </p:nvPr>
        </p:nvSpPr>
        <p:spPr>
          <a:xfrm>
            <a:off x="8000837" y="1325880"/>
            <a:ext cx="3543464" cy="3066507"/>
          </a:xfrm>
        </p:spPr>
        <p:txBody>
          <a:bodyPr>
            <a:normAutofit/>
          </a:bodyPr>
          <a:lstStyle/>
          <a:p>
            <a:pPr>
              <a:lnSpc>
                <a:spcPct val="90000"/>
              </a:lnSpc>
            </a:pPr>
            <a:r>
              <a:rPr lang="en-US" sz="3000" dirty="0">
                <a:solidFill>
                  <a:srgbClr val="EBEBEB"/>
                </a:solidFill>
              </a:rPr>
              <a:t>Understanding Agile and Waterfall: </a:t>
            </a:r>
            <a:br>
              <a:rPr lang="en-US" sz="3000" dirty="0">
                <a:solidFill>
                  <a:srgbClr val="EBEBEB"/>
                </a:solidFill>
              </a:rPr>
            </a:br>
            <a:br>
              <a:rPr lang="en-US" sz="3000" dirty="0">
                <a:solidFill>
                  <a:srgbClr val="EBEBEB"/>
                </a:solidFill>
              </a:rPr>
            </a:br>
            <a:r>
              <a:rPr lang="en-US" sz="1600" dirty="0">
                <a:solidFill>
                  <a:srgbClr val="EBEBEB"/>
                </a:solidFill>
              </a:rPr>
              <a:t>Choosing the Right Approach for Development</a:t>
            </a:r>
          </a:p>
        </p:txBody>
      </p:sp>
      <p:sp>
        <p:nvSpPr>
          <p:cNvPr id="15" name="Subtitle 14">
            <a:extLst>
              <a:ext uri="{FF2B5EF4-FFF2-40B4-BE49-F238E27FC236}">
                <a16:creationId xmlns:a16="http://schemas.microsoft.com/office/drawing/2014/main" id="{814165F8-0084-B453-E26E-8C940579B0B9}"/>
              </a:ext>
            </a:extLst>
          </p:cNvPr>
          <p:cNvSpPr>
            <a:spLocks noGrp="1"/>
          </p:cNvSpPr>
          <p:nvPr>
            <p:ph type="subTitle" idx="1"/>
          </p:nvPr>
        </p:nvSpPr>
        <p:spPr>
          <a:xfrm>
            <a:off x="7759940" y="5906766"/>
            <a:ext cx="3571163" cy="1621508"/>
          </a:xfrm>
        </p:spPr>
        <p:txBody>
          <a:bodyPr>
            <a:normAutofit/>
          </a:bodyPr>
          <a:lstStyle/>
          <a:p>
            <a:pPr>
              <a:lnSpc>
                <a:spcPct val="90000"/>
              </a:lnSpc>
            </a:pPr>
            <a:endParaRPr lang="en-US" sz="1800" dirty="0">
              <a:solidFill>
                <a:schemeClr val="tx2">
                  <a:lumMod val="40000"/>
                  <a:lumOff val="60000"/>
                </a:schemeClr>
              </a:solidFill>
            </a:endParaRPr>
          </a:p>
          <a:p>
            <a:pPr marL="285750" indent="-285750">
              <a:lnSpc>
                <a:spcPct val="90000"/>
              </a:lnSpc>
              <a:buFont typeface="Wingdings" panose="05000000000000000000" pitchFamily="2" charset="2"/>
              <a:buChar char="ü"/>
            </a:pPr>
            <a:r>
              <a:rPr lang="en-US" sz="1100" dirty="0">
                <a:solidFill>
                  <a:schemeClr val="tx2">
                    <a:lumMod val="40000"/>
                    <a:lumOff val="60000"/>
                  </a:schemeClr>
                </a:solidFill>
              </a:rPr>
              <a:t>A Strategic Guide for Leadership Decision-Making</a:t>
            </a:r>
          </a:p>
        </p:txBody>
      </p:sp>
      <p:sp>
        <p:nvSpPr>
          <p:cNvPr id="39"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28" name="Picture 27" descr="Cascade of waterfalls">
            <a:extLst>
              <a:ext uri="{FF2B5EF4-FFF2-40B4-BE49-F238E27FC236}">
                <a16:creationId xmlns:a16="http://schemas.microsoft.com/office/drawing/2014/main" id="{2E24E4DE-F271-16D7-D171-BEFE5311E303}"/>
              </a:ext>
            </a:extLst>
          </p:cNvPr>
          <p:cNvPicPr>
            <a:picLocks noChangeAspect="1"/>
          </p:cNvPicPr>
          <p:nvPr/>
        </p:nvPicPr>
        <p:blipFill>
          <a:blip r:embed="rId4"/>
          <a:srcRect l="12236" r="12234" b="-1"/>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41" name="Rectangle 40">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4894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15">
                                            <p:txEl>
                                              <p:pRg st="1" end="1"/>
                                            </p:txEl>
                                          </p:spTgt>
                                        </p:tgtEl>
                                        <p:attrNameLst>
                                          <p:attrName>style.visibility</p:attrName>
                                        </p:attrNameLst>
                                      </p:cBhvr>
                                      <p:to>
                                        <p:strVal val="visible"/>
                                      </p:to>
                                    </p:set>
                                    <p:animEffect transition="in" filter="fade">
                                      <p:cBhvr>
                                        <p:cTn id="7" dur="1000"/>
                                        <p:tgtEl>
                                          <p:spTgt spid="15">
                                            <p:txEl>
                                              <p:pRg st="1" end="1"/>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1C42F-3BE9-E39A-F985-E4C6F35F3E94}"/>
              </a:ext>
            </a:extLst>
          </p:cNvPr>
          <p:cNvSpPr>
            <a:spLocks noGrp="1"/>
          </p:cNvSpPr>
          <p:nvPr>
            <p:ph type="title"/>
          </p:nvPr>
        </p:nvSpPr>
        <p:spPr>
          <a:xfrm>
            <a:off x="648930" y="629266"/>
            <a:ext cx="9252154" cy="1223983"/>
          </a:xfrm>
        </p:spPr>
        <p:txBody>
          <a:bodyPr>
            <a:normAutofit/>
          </a:bodyPr>
          <a:lstStyle/>
          <a:p>
            <a:r>
              <a:rPr lang="en-US" b="1" dirty="0"/>
              <a:t>Scrum-Agile Team Roles Explained</a:t>
            </a:r>
            <a:endParaRPr lang="en-US" dirty="0"/>
          </a:p>
        </p:txBody>
      </p:sp>
      <p:graphicFrame>
        <p:nvGraphicFramePr>
          <p:cNvPr id="5" name="Content Placeholder 2">
            <a:extLst>
              <a:ext uri="{FF2B5EF4-FFF2-40B4-BE49-F238E27FC236}">
                <a16:creationId xmlns:a16="http://schemas.microsoft.com/office/drawing/2014/main" id="{3F818175-CCFC-E511-72DA-A85F8B11EDB6}"/>
              </a:ext>
            </a:extLst>
          </p:cNvPr>
          <p:cNvGraphicFramePr>
            <a:graphicFrameLocks noGrp="1"/>
          </p:cNvGraphicFramePr>
          <p:nvPr>
            <p:ph idx="1"/>
            <p:extLst>
              <p:ext uri="{D42A27DB-BD31-4B8C-83A1-F6EECF244321}">
                <p14:modId xmlns:p14="http://schemas.microsoft.com/office/powerpoint/2010/main" val="2674966601"/>
              </p:ext>
            </p:extLst>
          </p:nvPr>
        </p:nvGraphicFramePr>
        <p:xfrm>
          <a:off x="347870" y="755374"/>
          <a:ext cx="10873408" cy="54930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BCEDB23A-9496-D478-969E-5CE840AA1949}"/>
              </a:ext>
            </a:extLst>
          </p:cNvPr>
          <p:cNvSpPr txBox="1"/>
          <p:nvPr/>
        </p:nvSpPr>
        <p:spPr>
          <a:xfrm>
            <a:off x="213502" y="6248399"/>
            <a:ext cx="2844048" cy="507831"/>
          </a:xfrm>
          <a:prstGeom prst="rect">
            <a:avLst/>
          </a:prstGeom>
          <a:noFill/>
        </p:spPr>
        <p:txBody>
          <a:bodyPr wrap="none" rtlCol="0">
            <a:spAutoFit/>
          </a:bodyPr>
          <a:lstStyle/>
          <a:p>
            <a:pPr marL="171450" indent="-171450">
              <a:buFont typeface="Arial" panose="020B0604020202020204" pitchFamily="34" charset="0"/>
              <a:buChar char="•"/>
            </a:pPr>
            <a:r>
              <a:rPr lang="en-US" sz="900" i="1" dirty="0"/>
              <a:t>Cited Source:</a:t>
            </a:r>
            <a:r>
              <a:rPr lang="en-US" sz="900" dirty="0"/>
              <a:t> Schwaber &amp; Sutherland (2020)</a:t>
            </a:r>
          </a:p>
          <a:p>
            <a:endParaRPr lang="en-US" dirty="0"/>
          </a:p>
        </p:txBody>
      </p:sp>
    </p:spTree>
    <p:extLst>
      <p:ext uri="{BB962C8B-B14F-4D97-AF65-F5344CB8AC3E}">
        <p14:creationId xmlns:p14="http://schemas.microsoft.com/office/powerpoint/2010/main" val="2633152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D38D985-5831-A718-8CE2-72164600F48D}"/>
              </a:ext>
            </a:extLst>
          </p:cNvPr>
          <p:cNvSpPr>
            <a:spLocks noGrp="1"/>
          </p:cNvSpPr>
          <p:nvPr>
            <p:ph type="title"/>
          </p:nvPr>
        </p:nvSpPr>
        <p:spPr>
          <a:xfrm>
            <a:off x="648930" y="629267"/>
            <a:ext cx="9252154" cy="1016654"/>
          </a:xfrm>
        </p:spPr>
        <p:txBody>
          <a:bodyPr>
            <a:normAutofit/>
          </a:bodyPr>
          <a:lstStyle/>
          <a:p>
            <a:pPr>
              <a:lnSpc>
                <a:spcPct val="90000"/>
              </a:lnSpc>
            </a:pPr>
            <a:r>
              <a:rPr lang="en-US" sz="3300" b="1">
                <a:solidFill>
                  <a:srgbClr val="EBEBEB"/>
                </a:solidFill>
              </a:rPr>
              <a:t>Agile Development Lifecycle with Scrum</a:t>
            </a:r>
            <a:br>
              <a:rPr lang="en-US" sz="3300">
                <a:solidFill>
                  <a:srgbClr val="EBEBEB"/>
                </a:solidFill>
              </a:rPr>
            </a:br>
            <a:endParaRPr lang="en-US" sz="3300">
              <a:solidFill>
                <a:srgbClr val="EBEBEB"/>
              </a:solidFill>
            </a:endParaRPr>
          </a:p>
        </p:txBody>
      </p:sp>
      <p:sp>
        <p:nvSpPr>
          <p:cNvPr id="33" name="Rectangle 3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Shape 3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2">
            <a:extLst>
              <a:ext uri="{FF2B5EF4-FFF2-40B4-BE49-F238E27FC236}">
                <a16:creationId xmlns:a16="http://schemas.microsoft.com/office/drawing/2014/main" id="{21FC41EE-B308-5657-25DF-1D174A527552}"/>
              </a:ext>
            </a:extLst>
          </p:cNvPr>
          <p:cNvGraphicFramePr>
            <a:graphicFrameLocks noGrp="1"/>
          </p:cNvGraphicFramePr>
          <p:nvPr>
            <p:ph idx="1"/>
            <p:extLst>
              <p:ext uri="{D42A27DB-BD31-4B8C-83A1-F6EECF244321}">
                <p14:modId xmlns:p14="http://schemas.microsoft.com/office/powerpoint/2010/main" val="3502868365"/>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014093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54979-8603-3317-F916-BB1DF717B315}"/>
              </a:ext>
            </a:extLst>
          </p:cNvPr>
          <p:cNvSpPr>
            <a:spLocks noGrp="1"/>
          </p:cNvSpPr>
          <p:nvPr>
            <p:ph type="title"/>
          </p:nvPr>
        </p:nvSpPr>
        <p:spPr/>
        <p:txBody>
          <a:bodyPr/>
          <a:lstStyle/>
          <a:p>
            <a:r>
              <a:rPr lang="en-US" b="1" dirty="0"/>
              <a:t>Comparing Agile and Waterfall in Real Projects</a:t>
            </a:r>
            <a:br>
              <a:rPr lang="en-US" dirty="0"/>
            </a:br>
            <a:endParaRPr lang="en-US" dirty="0"/>
          </a:p>
        </p:txBody>
      </p:sp>
      <p:sp>
        <p:nvSpPr>
          <p:cNvPr id="3" name="Content Placeholder 2">
            <a:extLst>
              <a:ext uri="{FF2B5EF4-FFF2-40B4-BE49-F238E27FC236}">
                <a16:creationId xmlns:a16="http://schemas.microsoft.com/office/drawing/2014/main" id="{7C286081-1DE6-E162-6EB4-BCBC1D660FA4}"/>
              </a:ext>
            </a:extLst>
          </p:cNvPr>
          <p:cNvSpPr>
            <a:spLocks noGrp="1"/>
          </p:cNvSpPr>
          <p:nvPr>
            <p:ph idx="1"/>
          </p:nvPr>
        </p:nvSpPr>
        <p:spPr/>
        <p:txBody>
          <a:bodyPr/>
          <a:lstStyle/>
          <a:p>
            <a:pPr>
              <a:buFont typeface="Wingdings" panose="05000000000000000000" pitchFamily="2" charset="2"/>
              <a:buChar char="Ø"/>
            </a:pPr>
            <a:r>
              <a:rPr lang="en-US" b="1" dirty="0"/>
              <a:t>Waterfall</a:t>
            </a:r>
            <a:r>
              <a:rPr lang="en-US" dirty="0"/>
              <a:t>: A sequential, structured methodology best suited for projects with fixed scope, timelines, and deliverables. Each phase must be completed before the next begins.</a:t>
            </a:r>
          </a:p>
          <a:p>
            <a:pPr>
              <a:buFont typeface="Wingdings" panose="05000000000000000000" pitchFamily="2" charset="2"/>
              <a:buChar char="Ø"/>
            </a:pPr>
            <a:r>
              <a:rPr lang="en-US" b="1" dirty="0"/>
              <a:t>Agile</a:t>
            </a:r>
            <a:r>
              <a:rPr lang="en-US" dirty="0"/>
              <a:t>: A flexible, iterative framework that welcomes change, encourages collaboration, and delivers working software incrementally.</a:t>
            </a:r>
          </a:p>
          <a:p>
            <a:pPr>
              <a:buFont typeface="Wingdings" panose="05000000000000000000" pitchFamily="2" charset="2"/>
              <a:buChar char="§"/>
            </a:pPr>
            <a:r>
              <a:rPr lang="en-US" i="1" dirty="0"/>
              <a:t>Project Experience Example:</a:t>
            </a:r>
            <a:r>
              <a:rPr lang="en-US" dirty="0"/>
              <a:t> During an Agile sprint, the UI team accommodated a mid-sprint client revision seamlessly. In Waterfall, the same change would have required a formal change request, delaying progress.</a:t>
            </a:r>
          </a:p>
          <a:p>
            <a:pPr marL="0" indent="0">
              <a:buNone/>
            </a:pPr>
            <a:endParaRPr lang="en-US" dirty="0"/>
          </a:p>
          <a:p>
            <a:pPr>
              <a:buFont typeface="Arial" panose="020B0604020202020204" pitchFamily="34" charset="0"/>
              <a:buChar char="•"/>
            </a:pPr>
            <a:r>
              <a:rPr lang="en-US" sz="900" i="1" dirty="0"/>
              <a:t>Cited Source:</a:t>
            </a:r>
            <a:r>
              <a:rPr lang="en-US" sz="900" dirty="0"/>
              <a:t> Project Management Institute (PMI), 2021</a:t>
            </a:r>
          </a:p>
          <a:p>
            <a:endParaRPr lang="en-US" dirty="0"/>
          </a:p>
        </p:txBody>
      </p:sp>
    </p:spTree>
    <p:extLst>
      <p:ext uri="{BB962C8B-B14F-4D97-AF65-F5344CB8AC3E}">
        <p14:creationId xmlns:p14="http://schemas.microsoft.com/office/powerpoint/2010/main" val="4147742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A2B94-573F-C8AC-3C02-484001D2E96B}"/>
              </a:ext>
            </a:extLst>
          </p:cNvPr>
          <p:cNvSpPr>
            <a:spLocks noGrp="1"/>
          </p:cNvSpPr>
          <p:nvPr>
            <p:ph type="title"/>
          </p:nvPr>
        </p:nvSpPr>
        <p:spPr/>
        <p:txBody>
          <a:bodyPr/>
          <a:lstStyle/>
          <a:p>
            <a:r>
              <a:rPr lang="en-US" b="1" dirty="0"/>
              <a:t>When to Choose Agile or Waterfall?</a:t>
            </a:r>
            <a:br>
              <a:rPr lang="en-US" dirty="0"/>
            </a:br>
            <a:endParaRPr lang="en-US" dirty="0"/>
          </a:p>
        </p:txBody>
      </p:sp>
      <p:sp>
        <p:nvSpPr>
          <p:cNvPr id="3" name="Content Placeholder 2">
            <a:extLst>
              <a:ext uri="{FF2B5EF4-FFF2-40B4-BE49-F238E27FC236}">
                <a16:creationId xmlns:a16="http://schemas.microsoft.com/office/drawing/2014/main" id="{C1007F0A-F6E1-6984-4558-096DC0B8EE53}"/>
              </a:ext>
            </a:extLst>
          </p:cNvPr>
          <p:cNvSpPr>
            <a:spLocks noGrp="1"/>
          </p:cNvSpPr>
          <p:nvPr>
            <p:ph idx="1"/>
          </p:nvPr>
        </p:nvSpPr>
        <p:spPr>
          <a:xfrm>
            <a:off x="1103312" y="2052919"/>
            <a:ext cx="8946541" cy="3977768"/>
          </a:xfrm>
        </p:spPr>
        <p:txBody>
          <a:bodyPr>
            <a:normAutofit fontScale="92500" lnSpcReduction="10000"/>
          </a:bodyPr>
          <a:lstStyle/>
          <a:p>
            <a:pPr>
              <a:buFont typeface="Wingdings" panose="05000000000000000000" pitchFamily="2" charset="2"/>
              <a:buChar char="Ø"/>
            </a:pPr>
            <a:r>
              <a:rPr lang="en-US" b="1" dirty="0"/>
              <a:t>Choose Agile if:</a:t>
            </a:r>
            <a:endParaRPr lang="en-US" dirty="0"/>
          </a:p>
          <a:p>
            <a:pPr marL="742950" lvl="1" indent="-285750">
              <a:buFont typeface="Arial" panose="020B0604020202020204" pitchFamily="34" charset="0"/>
              <a:buChar char="•"/>
            </a:pPr>
            <a:r>
              <a:rPr lang="en-US" dirty="0"/>
              <a:t>The project involves evolving requirements or exploratory work</a:t>
            </a:r>
          </a:p>
          <a:p>
            <a:pPr marL="742950" lvl="1" indent="-285750">
              <a:buFont typeface="Arial" panose="020B0604020202020204" pitchFamily="34" charset="0"/>
              <a:buChar char="•"/>
            </a:pPr>
            <a:r>
              <a:rPr lang="en-US" dirty="0"/>
              <a:t>Stakeholders provide frequent input</a:t>
            </a:r>
          </a:p>
          <a:p>
            <a:pPr marL="742950" lvl="1" indent="-285750">
              <a:buFont typeface="Arial" panose="020B0604020202020204" pitchFamily="34" charset="0"/>
              <a:buChar char="•"/>
            </a:pPr>
            <a:r>
              <a:rPr lang="en-US" dirty="0"/>
              <a:t>The development process values speed, learning, and adaptability</a:t>
            </a:r>
          </a:p>
          <a:p>
            <a:pPr>
              <a:buFont typeface="Wingdings" panose="05000000000000000000" pitchFamily="2" charset="2"/>
              <a:buChar char="Ø"/>
            </a:pPr>
            <a:r>
              <a:rPr lang="en-US" b="1" dirty="0"/>
              <a:t>Choose Waterfall if:</a:t>
            </a:r>
            <a:endParaRPr lang="en-US" dirty="0"/>
          </a:p>
          <a:p>
            <a:pPr marL="742950" lvl="1" indent="-285750">
              <a:buFont typeface="Arial" panose="020B0604020202020204" pitchFamily="34" charset="0"/>
              <a:buChar char="•"/>
            </a:pPr>
            <a:r>
              <a:rPr lang="en-US" dirty="0"/>
              <a:t>The scope is well-defined and unlikely to change</a:t>
            </a:r>
          </a:p>
          <a:p>
            <a:pPr marL="742950" lvl="1" indent="-285750">
              <a:buFont typeface="Arial" panose="020B0604020202020204" pitchFamily="34" charset="0"/>
              <a:buChar char="•"/>
            </a:pPr>
            <a:r>
              <a:rPr lang="en-US" dirty="0"/>
              <a:t>Compliance, documentation, or regulatory oversight is a priority</a:t>
            </a:r>
          </a:p>
          <a:p>
            <a:pPr marL="742950" lvl="1" indent="-285750">
              <a:buFont typeface="Arial" panose="020B0604020202020204" pitchFamily="34" charset="0"/>
              <a:buChar char="•"/>
            </a:pPr>
            <a:r>
              <a:rPr lang="en-US" dirty="0"/>
              <a:t>The project needs a predictable schedule and budget</a:t>
            </a:r>
          </a:p>
          <a:p>
            <a:pPr>
              <a:buNone/>
            </a:pPr>
            <a:endParaRPr lang="en-US" sz="1800" i="1" dirty="0"/>
          </a:p>
          <a:p>
            <a:pPr>
              <a:buNone/>
            </a:pPr>
            <a:r>
              <a:rPr lang="en-US" sz="1800" i="1" dirty="0"/>
              <a:t>Case Insight: Our team chose Agile for its adaptability, given the client’s iterative feedback, evolving scope, and high collaboration requirements.</a:t>
            </a:r>
          </a:p>
          <a:p>
            <a:pPr>
              <a:buNone/>
            </a:pPr>
            <a:endParaRPr lang="en-US" sz="1800" i="1" dirty="0"/>
          </a:p>
          <a:p>
            <a:pPr>
              <a:buFont typeface="Arial" panose="020B0604020202020204" pitchFamily="34" charset="0"/>
              <a:buChar char="•"/>
            </a:pPr>
            <a:endParaRPr lang="en-US" sz="1200" i="1" dirty="0"/>
          </a:p>
          <a:p>
            <a:endParaRPr lang="en-US" dirty="0"/>
          </a:p>
        </p:txBody>
      </p:sp>
      <p:sp>
        <p:nvSpPr>
          <p:cNvPr id="4" name="TextBox 3">
            <a:extLst>
              <a:ext uri="{FF2B5EF4-FFF2-40B4-BE49-F238E27FC236}">
                <a16:creationId xmlns:a16="http://schemas.microsoft.com/office/drawing/2014/main" id="{6E8C4ED0-3613-643B-6CE0-E71A66ABCF8E}"/>
              </a:ext>
            </a:extLst>
          </p:cNvPr>
          <p:cNvSpPr txBox="1"/>
          <p:nvPr/>
        </p:nvSpPr>
        <p:spPr>
          <a:xfrm>
            <a:off x="217715" y="6230358"/>
            <a:ext cx="6178294" cy="784830"/>
          </a:xfrm>
          <a:prstGeom prst="rect">
            <a:avLst/>
          </a:prstGeom>
          <a:noFill/>
        </p:spPr>
        <p:txBody>
          <a:bodyPr wrap="none" rtlCol="0">
            <a:spAutoFit/>
          </a:bodyPr>
          <a:lstStyle/>
          <a:p>
            <a:pPr marL="0" indent="0">
              <a:buNone/>
            </a:pPr>
            <a:r>
              <a:rPr lang="en-US" sz="900" i="1" dirty="0"/>
              <a:t>Cited Sources:</a:t>
            </a:r>
            <a:endParaRPr lang="en-US" sz="900" dirty="0"/>
          </a:p>
          <a:p>
            <a:pPr marL="0" indent="0">
              <a:buNone/>
            </a:pPr>
            <a:r>
              <a:rPr lang="en-US" sz="900" dirty="0"/>
              <a:t>	Highsmith, J. (2019). </a:t>
            </a:r>
            <a:r>
              <a:rPr lang="en-US" sz="900" i="1" dirty="0"/>
              <a:t>Agile Project Management</a:t>
            </a:r>
            <a:r>
              <a:rPr lang="en-US" sz="900" dirty="0"/>
              <a:t>. Addison-Wesley.</a:t>
            </a:r>
          </a:p>
          <a:p>
            <a:pPr marL="0" indent="0">
              <a:buNone/>
            </a:pPr>
            <a:r>
              <a:rPr lang="en-US" sz="900" dirty="0"/>
              <a:t>	</a:t>
            </a:r>
            <a:r>
              <a:rPr lang="en-US" sz="900" dirty="0" err="1"/>
              <a:t>Poppendieck</a:t>
            </a:r>
            <a:r>
              <a:rPr lang="en-US" sz="900" dirty="0"/>
              <a:t>, M., &amp; </a:t>
            </a:r>
            <a:r>
              <a:rPr lang="en-US" sz="900" dirty="0" err="1"/>
              <a:t>Poppendieck</a:t>
            </a:r>
            <a:r>
              <a:rPr lang="en-US" sz="900" dirty="0"/>
              <a:t>, T. (2018). </a:t>
            </a:r>
            <a:r>
              <a:rPr lang="en-US" sz="900" i="1" dirty="0"/>
              <a:t>Lean Software Development</a:t>
            </a:r>
            <a:r>
              <a:rPr lang="en-US" sz="900" dirty="0"/>
              <a:t>. Addison-Wesley.</a:t>
            </a:r>
          </a:p>
          <a:p>
            <a:endParaRPr lang="en-US" dirty="0"/>
          </a:p>
        </p:txBody>
      </p:sp>
    </p:spTree>
    <p:extLst>
      <p:ext uri="{BB962C8B-B14F-4D97-AF65-F5344CB8AC3E}">
        <p14:creationId xmlns:p14="http://schemas.microsoft.com/office/powerpoint/2010/main" val="1395043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C462-DF19-303D-D27D-3788AAEE6FD0}"/>
              </a:ext>
            </a:extLst>
          </p:cNvPr>
          <p:cNvSpPr>
            <a:spLocks noGrp="1"/>
          </p:cNvSpPr>
          <p:nvPr>
            <p:ph type="title"/>
          </p:nvPr>
        </p:nvSpPr>
        <p:spPr/>
        <p:txBody>
          <a:bodyPr/>
          <a:lstStyle/>
          <a:p>
            <a:r>
              <a:rPr lang="en-US" b="1" dirty="0"/>
              <a:t>Supporting References:</a:t>
            </a:r>
            <a:endParaRPr lang="en-US" dirty="0"/>
          </a:p>
        </p:txBody>
      </p:sp>
      <p:sp>
        <p:nvSpPr>
          <p:cNvPr id="3" name="Content Placeholder 2">
            <a:extLst>
              <a:ext uri="{FF2B5EF4-FFF2-40B4-BE49-F238E27FC236}">
                <a16:creationId xmlns:a16="http://schemas.microsoft.com/office/drawing/2014/main" id="{3B522EBC-E6B5-F8D7-049E-EA1E57183425}"/>
              </a:ext>
            </a:extLst>
          </p:cNvPr>
          <p:cNvSpPr>
            <a:spLocks noGrp="1"/>
          </p:cNvSpPr>
          <p:nvPr>
            <p:ph idx="1"/>
          </p:nvPr>
        </p:nvSpPr>
        <p:spPr/>
        <p:txBody>
          <a:bodyPr/>
          <a:lstStyle/>
          <a:p>
            <a:pPr>
              <a:buFont typeface="Wingdings" panose="05000000000000000000" pitchFamily="2" charset="2"/>
              <a:buChar char="v"/>
            </a:pPr>
            <a:r>
              <a:rPr lang="en-US" dirty="0"/>
              <a:t>Schwaber, K., &amp; Sutherland, J. (2020). </a:t>
            </a:r>
            <a:r>
              <a:rPr lang="en-US" i="1" dirty="0"/>
              <a:t>2020 Scrum Guide</a:t>
            </a:r>
            <a:r>
              <a:rPr lang="en-US" dirty="0"/>
              <a:t>. https://scrumguides.org/</a:t>
            </a:r>
          </a:p>
          <a:p>
            <a:pPr>
              <a:buFont typeface="Wingdings" panose="05000000000000000000" pitchFamily="2" charset="2"/>
              <a:buChar char="v"/>
            </a:pPr>
            <a:r>
              <a:rPr lang="en-US" dirty="0"/>
              <a:t>Project Management Institute. (2021). </a:t>
            </a:r>
            <a:r>
              <a:rPr lang="en-US" i="1" dirty="0"/>
              <a:t>PMBOK® Guide – Seventh Edition</a:t>
            </a:r>
            <a:r>
              <a:rPr lang="en-US" dirty="0"/>
              <a:t>.</a:t>
            </a:r>
          </a:p>
          <a:p>
            <a:pPr>
              <a:buFont typeface="Wingdings" panose="05000000000000000000" pitchFamily="2" charset="2"/>
              <a:buChar char="v"/>
            </a:pPr>
            <a:r>
              <a:rPr lang="en-US" dirty="0"/>
              <a:t>Highsmith, J. (2019). </a:t>
            </a:r>
            <a:r>
              <a:rPr lang="en-US" i="1" dirty="0"/>
              <a:t>Agile Project Management</a:t>
            </a:r>
            <a:r>
              <a:rPr lang="en-US" dirty="0"/>
              <a:t>. Addison-Wesley.</a:t>
            </a:r>
          </a:p>
          <a:p>
            <a:pPr>
              <a:buFont typeface="Wingdings" panose="05000000000000000000" pitchFamily="2" charset="2"/>
              <a:buChar char="v"/>
            </a:pPr>
            <a:r>
              <a:rPr lang="en-US" dirty="0" err="1"/>
              <a:t>Poppendieck</a:t>
            </a:r>
            <a:r>
              <a:rPr lang="en-US" dirty="0"/>
              <a:t>, M., &amp; </a:t>
            </a:r>
            <a:r>
              <a:rPr lang="en-US" dirty="0" err="1"/>
              <a:t>Poppendieck</a:t>
            </a:r>
            <a:r>
              <a:rPr lang="en-US" dirty="0"/>
              <a:t>, T. (2018). </a:t>
            </a:r>
            <a:r>
              <a:rPr lang="en-US" i="1" dirty="0"/>
              <a:t>Lean Software Development</a:t>
            </a:r>
            <a:r>
              <a:rPr lang="en-US" dirty="0"/>
              <a:t>. Addison-Wesley.</a:t>
            </a:r>
          </a:p>
          <a:p>
            <a:pPr marL="0" indent="0">
              <a:buNone/>
            </a:pPr>
            <a:endParaRPr lang="en-US" dirty="0"/>
          </a:p>
        </p:txBody>
      </p:sp>
    </p:spTree>
    <p:extLst>
      <p:ext uri="{BB962C8B-B14F-4D97-AF65-F5344CB8AC3E}">
        <p14:creationId xmlns:p14="http://schemas.microsoft.com/office/powerpoint/2010/main" val="472357197"/>
      </p:ext>
    </p:extLst>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lancing Act">
  <a:themeElements>
    <a:clrScheme name="Balancing Act">
      <a:dk1>
        <a:sysClr val="windowText" lastClr="000000"/>
      </a:dk1>
      <a:lt1>
        <a:sysClr val="window" lastClr="FFFFFF"/>
      </a:lt1>
      <a:dk2>
        <a:srgbClr val="8A4C5D"/>
      </a:dk2>
      <a:lt2>
        <a:srgbClr val="9E838E"/>
      </a:lt2>
      <a:accent1>
        <a:srgbClr val="C6ADB0"/>
      </a:accent1>
      <a:accent2>
        <a:srgbClr val="E3C0BF"/>
      </a:accent2>
      <a:accent3>
        <a:srgbClr val="D4937F"/>
      </a:accent3>
      <a:accent4>
        <a:srgbClr val="CCB87E"/>
      </a:accent4>
      <a:accent5>
        <a:srgbClr val="6667AB"/>
      </a:accent5>
      <a:accent6>
        <a:srgbClr val="86A094"/>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lspring">
  <a:themeElements>
    <a:clrScheme name="Wellspring">
      <a:dk1>
        <a:sysClr val="windowText" lastClr="000000"/>
      </a:dk1>
      <a:lt1>
        <a:sysClr val="window" lastClr="FFFFFF"/>
      </a:lt1>
      <a:dk2>
        <a:srgbClr val="A1CAC9"/>
      </a:dk2>
      <a:lt2>
        <a:srgbClr val="48996B"/>
      </a:lt2>
      <a:accent1>
        <a:srgbClr val="759F51"/>
      </a:accent1>
      <a:accent2>
        <a:srgbClr val="436A2F"/>
      </a:accent2>
      <a:accent3>
        <a:srgbClr val="CFBF54"/>
      </a:accent3>
      <a:accent4>
        <a:srgbClr val="B3832F"/>
      </a:accent4>
      <a:accent5>
        <a:srgbClr val="8C5896"/>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tar of the show">
  <a:themeElements>
    <a:clrScheme name="Star of the show">
      <a:dk1>
        <a:sysClr val="windowText" lastClr="000000"/>
      </a:dk1>
      <a:lt1>
        <a:sysClr val="window" lastClr="FFFFFF"/>
      </a:lt1>
      <a:dk2>
        <a:srgbClr val="29282D"/>
      </a:dk2>
      <a:lt2>
        <a:srgbClr val="625C60"/>
      </a:lt2>
      <a:accent1>
        <a:srgbClr val="7C6560"/>
      </a:accent1>
      <a:accent2>
        <a:srgbClr val="AEA392"/>
      </a:accent2>
      <a:accent3>
        <a:srgbClr val="DBD4D0"/>
      </a:accent3>
      <a:accent4>
        <a:srgbClr val="8E7961"/>
      </a:accent4>
      <a:accent5>
        <a:srgbClr val="F0EDE8"/>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Amusements">
  <a:themeElements>
    <a:clrScheme name="Amusements">
      <a:dk1>
        <a:sysClr val="windowText" lastClr="000000"/>
      </a:dk1>
      <a:lt1>
        <a:sysClr val="window" lastClr="FFFFFF"/>
      </a:lt1>
      <a:dk2>
        <a:srgbClr val="D77E6F"/>
      </a:dk2>
      <a:lt2>
        <a:srgbClr val="6667AB"/>
      </a:lt2>
      <a:accent1>
        <a:srgbClr val="B38F6A"/>
      </a:accent1>
      <a:accent2>
        <a:srgbClr val="D75078"/>
      </a:accent2>
      <a:accent3>
        <a:srgbClr val="E288B6"/>
      </a:accent3>
      <a:accent4>
        <a:srgbClr val="E9445D"/>
      </a:accent4>
      <a:accent5>
        <a:srgbClr val="EEC272"/>
      </a:accent5>
      <a:accent6>
        <a:srgbClr val="85A0A9"/>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tf66906339_win32</Template>
  <TotalTime>164</TotalTime>
  <Words>1230</Words>
  <Application>Microsoft Office PowerPoint</Application>
  <PresentationFormat>Widescreen</PresentationFormat>
  <Paragraphs>93</Paragraphs>
  <Slides>7</Slides>
  <Notes>7</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7</vt:i4>
      </vt:variant>
    </vt:vector>
  </HeadingPairs>
  <TitlesOfParts>
    <vt:vector size="21" baseType="lpstr">
      <vt:lpstr>Arial</vt:lpstr>
      <vt:lpstr>Calibri</vt:lpstr>
      <vt:lpstr>Century Gothic</vt:lpstr>
      <vt:lpstr>inherit</vt:lpstr>
      <vt:lpstr>Segoe UI</vt:lpstr>
      <vt:lpstr>Segoe UI Light</vt:lpstr>
      <vt:lpstr>TT_Norms_Pro</vt:lpstr>
      <vt:lpstr>Wingdings</vt:lpstr>
      <vt:lpstr>Wingdings 3</vt:lpstr>
      <vt:lpstr>Balancing Act</vt:lpstr>
      <vt:lpstr>Wellspring</vt:lpstr>
      <vt:lpstr>Star of the show</vt:lpstr>
      <vt:lpstr>Amusements</vt:lpstr>
      <vt:lpstr>Ion</vt:lpstr>
      <vt:lpstr>AGILE DEVELOPMENT</vt:lpstr>
      <vt:lpstr>Understanding Agile and Waterfall:   Choosing the Right Approach for Development</vt:lpstr>
      <vt:lpstr>Scrum-Agile Team Roles Explained</vt:lpstr>
      <vt:lpstr>Agile Development Lifecycle with Scrum </vt:lpstr>
      <vt:lpstr>Comparing Agile and Waterfall in Real Projects </vt:lpstr>
      <vt:lpstr>When to Choose Agile or Waterfall? </vt:lpstr>
      <vt:lpstr>Supporting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Joiner, Shelby</cp:lastModifiedBy>
  <cp:revision>4</cp:revision>
  <dcterms:created xsi:type="dcterms:W3CDTF">2021-12-08T21:54:28Z</dcterms:created>
  <dcterms:modified xsi:type="dcterms:W3CDTF">2025-04-21T01:49:31Z</dcterms:modified>
</cp:coreProperties>
</file>